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4"/>
  </p:sldMasterIdLst>
  <p:notesMasterIdLst>
    <p:notesMasterId r:id="rId16"/>
  </p:notesMasterIdLst>
  <p:sldIdLst>
    <p:sldId id="256" r:id="rId5"/>
    <p:sldId id="257" r:id="rId6"/>
    <p:sldId id="258" r:id="rId7"/>
    <p:sldId id="259" r:id="rId8"/>
    <p:sldId id="261" r:id="rId9"/>
    <p:sldId id="267" r:id="rId10"/>
    <p:sldId id="268" r:id="rId11"/>
    <p:sldId id="269" r:id="rId12"/>
    <p:sldId id="263" r:id="rId13"/>
    <p:sldId id="266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489107F-6214-420F-86B7-44FE7CC6C0A2}">
          <p14:sldIdLst>
            <p14:sldId id="256"/>
            <p14:sldId id="257"/>
            <p14:sldId id="258"/>
            <p14:sldId id="259"/>
            <p14:sldId id="261"/>
            <p14:sldId id="267"/>
            <p14:sldId id="268"/>
            <p14:sldId id="269"/>
            <p14:sldId id="263"/>
            <p14:sldId id="266"/>
            <p14:sldId id="270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1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6DEEBE-3FAC-BFF7-AA78-F629CB47A742}" v="70" dt="2026-10-05T17:07:41.3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9948" autoAdjust="0"/>
  </p:normalViewPr>
  <p:slideViewPr>
    <p:cSldViewPr snapToGrid="0">
      <p:cViewPr>
        <p:scale>
          <a:sx n="77" d="100"/>
          <a:sy n="77" d="100"/>
        </p:scale>
        <p:origin x="883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3209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Introduce the team and the project name. One sentence: Plant is a social platform where popular posts grow into their own forums.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Scope and vision. Key line: posts evolve into forums based on community interest, not manual organization. Content is shaped by the user's own interests and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content users actually care about, and communities around it. Name the metrics quickly (posts graduating to forums per week, forum lifespan, engagement, growth, survey quality). Don't read every bullet.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Three revenue streams: ads (personal and business), anonymized data, and premium subscriptions. Keep it to one sentence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what you'll see at the end of the semester. Highlight post-to-forum progression as the headline feature, then move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Five stories chosen because they are unique to Plant, not generic account features. Lead with Post-to-Forum (the core idea), then feed, moderation, ads, and kids mode. Spend ~15 seconds per story; don't read the full sentence, paraphrase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is the heart of Plant. Walk the 6 steps left to right, then mention the two failure cases. Tie it to the ERD later: it's driven by the </a:t>
            </a:r>
            <a:r>
              <a:rPr dirty="0" err="1"/>
              <a:t>forum_progress</a:t>
            </a:r>
            <a:r>
              <a:rPr dirty="0"/>
              <a:t> field on Posts.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This shows the business side and how Plant makes money. Walk the 7 steps quickly, then the two failure cases. Note forum moderators can flag mismatched promotions.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Don't explain every table. Walk the four color groups: Identity (blue), Interests (purple), Content (red), Messaging (green). Point out that interests/category activity feed the personalized feed.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Tie the database back to features. Likely Q&amp;A: there is no separate Forum table; a forum is a post whose </a:t>
            </a:r>
            <a:r>
              <a:rPr dirty="0" err="1"/>
              <a:t>forum_progress</a:t>
            </a:r>
            <a:r>
              <a:rPr dirty="0"/>
              <a:t> has advanced. Be ready to explain how forum membership and moderators will be handled (e.g. via Chat/Posts relationships or a table added later).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Restate what the finished product looks like, then open for Q&amp;A. Remember: all questions come after the demo/presentation, and Q&amp;A runs 3-5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DD129-A8C2-419E-B641-6CC90F507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1524000"/>
            <a:ext cx="10668000" cy="22860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B33C04-8A23-4499-A6EF-1D190F0FB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571999"/>
            <a:ext cx="10668000" cy="1524000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A99FB-5674-4BC5-949F-8D45EC167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3CF93-DD67-4FE2-8083-864693FE8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05E934-32B6-44B1-9622-67F30BDA3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51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AF011-A499-4054-89BF-A4800A68F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FB6E8-D956-45B5-9B4A-9D31DF466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DB9DB-9E62-4292-915C-1DD413474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462F1-BC30-4172-8353-363123A1D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2EE8A-96DF-4D7D-B434-778324756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8395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8453A-F2B4-4EDB-B8FA-150267BC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00"/>
            <a:ext cx="10668000" cy="303847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C46C51-ADF1-48FC-A4D9-38C369E783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4589463"/>
            <a:ext cx="10668000" cy="15065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43B56-4DC7-490B-AEFD-55ED1ECFF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738F8-C4B2-41D8-B627-A6DDB24B2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43D49-23F8-4C4B-9C30-EDC030EE6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544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5556D-6916-42E6-8820-8A0D328A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747A5-C962-477F-89AA-A32385D57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2000" y="2285999"/>
            <a:ext cx="5151119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D08312-30FC-44D8-B2A9-B5CAAD9F06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8879" y="2285999"/>
            <a:ext cx="5151121" cy="38100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D84EB-AF90-4F19-A376-0FE5E50F9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838ED0-2789-41E4-A36E-83F92CA2E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221A83-6D60-45F0-9173-5F6D2438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33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FAE2-03F4-4A94-86C4-9305B237C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BAC5A5-E184-46B6-8AB5-C8E132D36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5999"/>
            <a:ext cx="5151119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DCFE87-5D80-45CB-9D13-DFC9AFCEC7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000" y="3048000"/>
            <a:ext cx="5151119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AC1E5A-8423-4749-8EDA-E13425F69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8878" y="2286000"/>
            <a:ext cx="5151122" cy="76199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32AAA-4BB8-4A3D-9C79-516F82F80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8878" y="3048000"/>
            <a:ext cx="5151122" cy="304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0BEC63-51D3-4C70-B804-BE9EF765A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CA295-8563-402F-92C3-1F20C977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FA5918-109D-4342-84C0-9774A52C9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33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F2662-CBD1-4498-9B6E-2961F5EF1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F739AE-8101-4C18-8CF3-911BDF39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EB1C88-D181-449C-9BE1-E85068C18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38A2C9-E93B-4F0A-A021-9E3AEBC3F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6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0AE8D9-9B42-438E-ADA6-CCFE45788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F792B9-A8AF-4E13-8A25-741E89691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3A2CF6-DBC5-4491-B213-B3CD09D31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798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27076-58C8-494C-B6B1-DC86F62DD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1998"/>
            <a:ext cx="3810000" cy="1524002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9E36-0340-452F-8D0A-1BC3F3A388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0" y="762001"/>
            <a:ext cx="6096000" cy="5334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051C2E-E587-45E8-BDB1-DFF2F2791B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0" y="2286000"/>
            <a:ext cx="3810000" cy="381000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21D993-DEDD-470E-B48B-CB053A55A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926C64-7401-4CA4-859F-74472AF8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108F41-F1F6-431C-9B45-8A447F188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156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04FB-422C-4023-9381-EB12F1582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762000"/>
            <a:ext cx="3809999" cy="1524000"/>
          </a:xfrm>
        </p:spPr>
        <p:txBody>
          <a:bodyPr anchor="t" anchorCtr="0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BA3AA-DE44-4B1F-91D1-09F67B89B9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34000" y="762001"/>
            <a:ext cx="6021388" cy="5334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27B131-5117-4106-80DB-2AB208C4C9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2001" y="2286000"/>
            <a:ext cx="3809999" cy="38100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13918A-7F23-4C72-8E80-591324A30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071C8-76FE-4B83-8317-BD53C7C84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23681A-6F29-48FC-9409-319ED3E9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679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A5B09-FC60-445F-8A12-79869BEC6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A219F7-87F2-409F-BB0B-8FE9270C9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C2BB8-59E0-4EB2-B3BE-59D8641E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984E-C0DE-461B-8011-8FC31B0EE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7C03-68D3-445E-A5A2-8A935CFC9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372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21F0D7-112D-48B1-B32B-170B1AA2B5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43998" y="761999"/>
            <a:ext cx="2286000" cy="53340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27A7C1-8E5B-41DA-9802-F242D382B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2001" y="761999"/>
            <a:ext cx="7619999" cy="5334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961CC7-F5B1-464A-8127-60645FB21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B94302-B381-4F37-A9FF-5CC55191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07151-541F-4104-B989-83A9DCA6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46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</a:extLst>
          </p:cNvPr>
          <p:cNvSpPr/>
          <p:nvPr/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4ABFBEA-4EB0-4D02-A2C0-1733CD3D6F12}"/>
              </a:ext>
            </a:extLst>
          </p:cNvPr>
          <p:cNvSpPr/>
          <p:nvPr/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</a:extLst>
          </p:cNvPr>
          <p:cNvSpPr/>
          <p:nvPr/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A2F988-7148-4375-83D8-12EE5EBC7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762000"/>
            <a:ext cx="106680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896238-C5B3-4F3C-97FA-890E1A51A2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2286000"/>
            <a:ext cx="10668000" cy="3818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E4474-0442-4E4B-9E5B-CA7B3951C1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389165" y="194320"/>
            <a:ext cx="2040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10/11/2026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26A98-F887-40E1-B9BA-9D93DE90E0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1999" y="6356350"/>
            <a:ext cx="661283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C8119-73F6-4713-9AD3-3628DCDFB8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52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  <a:alpha val="7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767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2" r:id="rId6"/>
    <p:sldLayoutId id="2147483757" r:id="rId7"/>
    <p:sldLayoutId id="2147483753" r:id="rId8"/>
    <p:sldLayoutId id="2147483754" r:id="rId9"/>
    <p:sldLayoutId id="2147483755" r:id="rId10"/>
    <p:sldLayoutId id="214748375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alpha val="7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65A5CBD-5BDA-4345-915C-718F0E585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8BDA972-8BFE-46DE-BE39-C2E400260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691671"/>
            <a:ext cx="2651938" cy="3166331"/>
          </a:xfrm>
          <a:custGeom>
            <a:avLst/>
            <a:gdLst>
              <a:gd name="connsiteX0" fmla="*/ 0 w 2651938"/>
              <a:gd name="connsiteY0" fmla="*/ 0 h 3166331"/>
              <a:gd name="connsiteX1" fmla="*/ 128434 w 2651938"/>
              <a:gd name="connsiteY1" fmla="*/ 80958 h 3166331"/>
              <a:gd name="connsiteX2" fmla="*/ 1667387 w 2651938"/>
              <a:gd name="connsiteY2" fmla="*/ 1181434 h 3166331"/>
              <a:gd name="connsiteX3" fmla="*/ 2485971 w 2651938"/>
              <a:gd name="connsiteY3" fmla="*/ 2995293 h 3166331"/>
              <a:gd name="connsiteX4" fmla="*/ 2594202 w 2651938"/>
              <a:gd name="connsiteY4" fmla="*/ 3114143 h 3166331"/>
              <a:gd name="connsiteX5" fmla="*/ 2651938 w 2651938"/>
              <a:gd name="connsiteY5" fmla="*/ 3166331 h 3166331"/>
              <a:gd name="connsiteX6" fmla="*/ 0 w 2651938"/>
              <a:gd name="connsiteY6" fmla="*/ 3166331 h 3166331"/>
              <a:gd name="connsiteX7" fmla="*/ 0 w 2651938"/>
              <a:gd name="connsiteY7" fmla="*/ 0 h 3166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51938" h="3166331">
                <a:moveTo>
                  <a:pt x="0" y="0"/>
                </a:moveTo>
                <a:lnTo>
                  <a:pt x="128434" y="80958"/>
                </a:lnTo>
                <a:cubicBezTo>
                  <a:pt x="680924" y="403734"/>
                  <a:pt x="1283371" y="663298"/>
                  <a:pt x="1667387" y="1181434"/>
                </a:cubicBezTo>
                <a:cubicBezTo>
                  <a:pt x="2063018" y="1715408"/>
                  <a:pt x="2066676" y="2480277"/>
                  <a:pt x="2485971" y="2995293"/>
                </a:cubicBezTo>
                <a:cubicBezTo>
                  <a:pt x="2520026" y="3037146"/>
                  <a:pt x="2556241" y="3076606"/>
                  <a:pt x="2594202" y="3114143"/>
                </a:cubicBezTo>
                <a:lnTo>
                  <a:pt x="2651938" y="3166331"/>
                </a:lnTo>
                <a:lnTo>
                  <a:pt x="0" y="316633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295E5F-5EE6-8033-ABFD-A39474F8D8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82976" y="2913307"/>
            <a:ext cx="2715584" cy="778364"/>
          </a:xfrm>
        </p:spPr>
        <p:txBody>
          <a:bodyPr>
            <a:noAutofit/>
          </a:bodyPr>
          <a:lstStyle/>
          <a:p>
            <a:pPr algn="l"/>
            <a:r>
              <a:rPr lang="en-US">
                <a:solidFill>
                  <a:schemeClr val="tx2"/>
                </a:solidFill>
              </a:rPr>
              <a:t>Pl   nt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9B03CC1-EF65-45E0-A6F0-114D3F76F0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3933825"/>
            <a:ext cx="2431142" cy="2924175"/>
          </a:xfrm>
          <a:custGeom>
            <a:avLst/>
            <a:gdLst>
              <a:gd name="connsiteX0" fmla="*/ 0 w 2431142"/>
              <a:gd name="connsiteY0" fmla="*/ 0 h 2924175"/>
              <a:gd name="connsiteX1" fmla="*/ 3813 w 2431142"/>
              <a:gd name="connsiteY1" fmla="*/ 1480 h 2924175"/>
              <a:gd name="connsiteX2" fmla="*/ 1801293 w 2431142"/>
              <a:gd name="connsiteY2" fmla="*/ 1111068 h 2924175"/>
              <a:gd name="connsiteX3" fmla="*/ 2425734 w 2431142"/>
              <a:gd name="connsiteY3" fmla="*/ 2797078 h 2924175"/>
              <a:gd name="connsiteX4" fmla="*/ 2413860 w 2431142"/>
              <a:gd name="connsiteY4" fmla="*/ 2924175 h 2924175"/>
              <a:gd name="connsiteX5" fmla="*/ 941022 w 2431142"/>
              <a:gd name="connsiteY5" fmla="*/ 2924175 h 2924175"/>
              <a:gd name="connsiteX0" fmla="*/ 0 w 2431142"/>
              <a:gd name="connsiteY0" fmla="*/ 0 h 3015615"/>
              <a:gd name="connsiteX1" fmla="*/ 3813 w 2431142"/>
              <a:gd name="connsiteY1" fmla="*/ 1480 h 3015615"/>
              <a:gd name="connsiteX2" fmla="*/ 1801293 w 2431142"/>
              <a:gd name="connsiteY2" fmla="*/ 1111068 h 3015615"/>
              <a:gd name="connsiteX3" fmla="*/ 2425734 w 2431142"/>
              <a:gd name="connsiteY3" fmla="*/ 2797078 h 3015615"/>
              <a:gd name="connsiteX4" fmla="*/ 2413860 w 2431142"/>
              <a:gd name="connsiteY4" fmla="*/ 2924175 h 3015615"/>
              <a:gd name="connsiteX5" fmla="*/ 1032462 w 2431142"/>
              <a:gd name="connsiteY5" fmla="*/ 3015615 h 3015615"/>
              <a:gd name="connsiteX0" fmla="*/ 0 w 2431142"/>
              <a:gd name="connsiteY0" fmla="*/ 0 h 2924175"/>
              <a:gd name="connsiteX1" fmla="*/ 3813 w 2431142"/>
              <a:gd name="connsiteY1" fmla="*/ 1480 h 2924175"/>
              <a:gd name="connsiteX2" fmla="*/ 1801293 w 2431142"/>
              <a:gd name="connsiteY2" fmla="*/ 1111068 h 2924175"/>
              <a:gd name="connsiteX3" fmla="*/ 2425734 w 2431142"/>
              <a:gd name="connsiteY3" fmla="*/ 2797078 h 2924175"/>
              <a:gd name="connsiteX4" fmla="*/ 2413860 w 2431142"/>
              <a:gd name="connsiteY4" fmla="*/ 2924175 h 2924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1142" h="2924175">
                <a:moveTo>
                  <a:pt x="0" y="0"/>
                </a:moveTo>
                <a:lnTo>
                  <a:pt x="3813" y="1480"/>
                </a:lnTo>
                <a:cubicBezTo>
                  <a:pt x="752659" y="310164"/>
                  <a:pt x="1398401" y="705147"/>
                  <a:pt x="1801293" y="1111068"/>
                </a:cubicBezTo>
                <a:cubicBezTo>
                  <a:pt x="2293323" y="1606409"/>
                  <a:pt x="2465054" y="2204162"/>
                  <a:pt x="2425734" y="2797078"/>
                </a:cubicBezTo>
                <a:lnTo>
                  <a:pt x="2413860" y="2924175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4B87E-4C1F-52E1-6911-532F16566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9" y="5162676"/>
            <a:ext cx="4572000" cy="1678661"/>
          </a:xfrm>
        </p:spPr>
        <p:txBody>
          <a:bodyPr>
            <a:normAutofit/>
          </a:bodyPr>
          <a:lstStyle/>
          <a:p>
            <a:pPr algn="l"/>
            <a:r>
              <a:rPr lang="en-US" sz="1200"/>
              <a:t>CS-305-101</a:t>
            </a:r>
          </a:p>
          <a:p>
            <a:pPr algn="l"/>
            <a:r>
              <a:rPr lang="en-US" sz="1200"/>
              <a:t>Marshall University</a:t>
            </a:r>
          </a:p>
          <a:p>
            <a:pPr algn="l"/>
            <a:r>
              <a:rPr lang="en-US" sz="1200"/>
              <a:t>Shane Snodgrass, Matthew Williams, Robert Peterson, Logan Waller, Deven Miller</a:t>
            </a: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F2B435-82E8-4083-A4BD-598C348FDE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95786" y="0"/>
            <a:ext cx="4496214" cy="4712444"/>
          </a:xfrm>
          <a:custGeom>
            <a:avLst/>
            <a:gdLst>
              <a:gd name="connsiteX0" fmla="*/ 520805 w 4496214"/>
              <a:gd name="connsiteY0" fmla="*/ 0 h 4712444"/>
              <a:gd name="connsiteX1" fmla="*/ 4496214 w 4496214"/>
              <a:gd name="connsiteY1" fmla="*/ 0 h 4712444"/>
              <a:gd name="connsiteX2" fmla="*/ 4496214 w 4496214"/>
              <a:gd name="connsiteY2" fmla="*/ 2870874 h 4712444"/>
              <a:gd name="connsiteX3" fmla="*/ 4327504 w 4496214"/>
              <a:gd name="connsiteY3" fmla="*/ 2986301 h 4712444"/>
              <a:gd name="connsiteX4" fmla="*/ 4128523 w 4496214"/>
              <a:gd name="connsiteY4" fmla="*/ 3121316 h 4712444"/>
              <a:gd name="connsiteX5" fmla="*/ 1946719 w 4496214"/>
              <a:gd name="connsiteY5" fmla="*/ 4514203 h 4712444"/>
              <a:gd name="connsiteX6" fmla="*/ 393090 w 4496214"/>
              <a:gd name="connsiteY6" fmla="*/ 4234003 h 4712444"/>
              <a:gd name="connsiteX7" fmla="*/ 62 w 4496214"/>
              <a:gd name="connsiteY7" fmla="*/ 2727368 h 4712444"/>
              <a:gd name="connsiteX8" fmla="*/ 513680 w 4496214"/>
              <a:gd name="connsiteY8" fmla="*/ 17175 h 4712444"/>
              <a:gd name="connsiteX9" fmla="*/ 520805 w 4496214"/>
              <a:gd name="connsiteY9" fmla="*/ 0 h 471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96214" h="4712444">
                <a:moveTo>
                  <a:pt x="520805" y="0"/>
                </a:moveTo>
                <a:lnTo>
                  <a:pt x="4496214" y="0"/>
                </a:lnTo>
                <a:lnTo>
                  <a:pt x="4496214" y="2870874"/>
                </a:lnTo>
                <a:lnTo>
                  <a:pt x="4327504" y="2986301"/>
                </a:lnTo>
                <a:cubicBezTo>
                  <a:pt x="4258159" y="3033104"/>
                  <a:pt x="4191380" y="3077964"/>
                  <a:pt x="4128523" y="3121316"/>
                </a:cubicBezTo>
                <a:cubicBezTo>
                  <a:pt x="3416510" y="3613182"/>
                  <a:pt x="2702940" y="4104035"/>
                  <a:pt x="1946719" y="4514203"/>
                </a:cubicBezTo>
                <a:cubicBezTo>
                  <a:pt x="1506382" y="4753298"/>
                  <a:pt x="872113" y="4891401"/>
                  <a:pt x="393090" y="4234003"/>
                </a:cubicBezTo>
                <a:cubicBezTo>
                  <a:pt x="73281" y="3794802"/>
                  <a:pt x="-2478" y="3209529"/>
                  <a:pt x="62" y="2727368"/>
                </a:cubicBezTo>
                <a:cubicBezTo>
                  <a:pt x="5227" y="1750794"/>
                  <a:pt x="200135" y="818862"/>
                  <a:pt x="513680" y="17175"/>
                </a:cubicBezTo>
                <a:lnTo>
                  <a:pt x="52080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8F00339E-AB33-4929-B7AA-6115766633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3800" y="16663"/>
            <a:ext cx="4648201" cy="4555336"/>
          </a:xfrm>
          <a:custGeom>
            <a:avLst/>
            <a:gdLst>
              <a:gd name="connsiteX0" fmla="*/ 520805 w 4496214"/>
              <a:gd name="connsiteY0" fmla="*/ 0 h 4712444"/>
              <a:gd name="connsiteX1" fmla="*/ 4496214 w 4496214"/>
              <a:gd name="connsiteY1" fmla="*/ 0 h 4712444"/>
              <a:gd name="connsiteX2" fmla="*/ 4496214 w 4496214"/>
              <a:gd name="connsiteY2" fmla="*/ 2870874 h 4712444"/>
              <a:gd name="connsiteX3" fmla="*/ 4327504 w 4496214"/>
              <a:gd name="connsiteY3" fmla="*/ 2986301 h 4712444"/>
              <a:gd name="connsiteX4" fmla="*/ 4128523 w 4496214"/>
              <a:gd name="connsiteY4" fmla="*/ 3121316 h 4712444"/>
              <a:gd name="connsiteX5" fmla="*/ 1946719 w 4496214"/>
              <a:gd name="connsiteY5" fmla="*/ 4514203 h 4712444"/>
              <a:gd name="connsiteX6" fmla="*/ 393090 w 4496214"/>
              <a:gd name="connsiteY6" fmla="*/ 4234003 h 4712444"/>
              <a:gd name="connsiteX7" fmla="*/ 62 w 4496214"/>
              <a:gd name="connsiteY7" fmla="*/ 2727368 h 4712444"/>
              <a:gd name="connsiteX8" fmla="*/ 513680 w 4496214"/>
              <a:gd name="connsiteY8" fmla="*/ 17175 h 4712444"/>
              <a:gd name="connsiteX0" fmla="*/ 4496214 w 4496214"/>
              <a:gd name="connsiteY0" fmla="*/ 0 h 4712444"/>
              <a:gd name="connsiteX1" fmla="*/ 4496214 w 4496214"/>
              <a:gd name="connsiteY1" fmla="*/ 2870874 h 4712444"/>
              <a:gd name="connsiteX2" fmla="*/ 4327504 w 4496214"/>
              <a:gd name="connsiteY2" fmla="*/ 2986301 h 4712444"/>
              <a:gd name="connsiteX3" fmla="*/ 4128523 w 4496214"/>
              <a:gd name="connsiteY3" fmla="*/ 3121316 h 4712444"/>
              <a:gd name="connsiteX4" fmla="*/ 1946719 w 4496214"/>
              <a:gd name="connsiteY4" fmla="*/ 4514203 h 4712444"/>
              <a:gd name="connsiteX5" fmla="*/ 393090 w 4496214"/>
              <a:gd name="connsiteY5" fmla="*/ 4234003 h 4712444"/>
              <a:gd name="connsiteX6" fmla="*/ 62 w 4496214"/>
              <a:gd name="connsiteY6" fmla="*/ 2727368 h 4712444"/>
              <a:gd name="connsiteX7" fmla="*/ 513680 w 4496214"/>
              <a:gd name="connsiteY7" fmla="*/ 17175 h 4712444"/>
              <a:gd name="connsiteX8" fmla="*/ 610729 w 4496214"/>
              <a:gd name="connsiteY8" fmla="*/ 94249 h 4712444"/>
              <a:gd name="connsiteX0" fmla="*/ 4496214 w 4496214"/>
              <a:gd name="connsiteY0" fmla="*/ 2853983 h 4695553"/>
              <a:gd name="connsiteX1" fmla="*/ 4327504 w 4496214"/>
              <a:gd name="connsiteY1" fmla="*/ 2969410 h 4695553"/>
              <a:gd name="connsiteX2" fmla="*/ 4128523 w 4496214"/>
              <a:gd name="connsiteY2" fmla="*/ 3104425 h 4695553"/>
              <a:gd name="connsiteX3" fmla="*/ 1946719 w 4496214"/>
              <a:gd name="connsiteY3" fmla="*/ 4497312 h 4695553"/>
              <a:gd name="connsiteX4" fmla="*/ 393090 w 4496214"/>
              <a:gd name="connsiteY4" fmla="*/ 4217112 h 4695553"/>
              <a:gd name="connsiteX5" fmla="*/ 62 w 4496214"/>
              <a:gd name="connsiteY5" fmla="*/ 2710477 h 4695553"/>
              <a:gd name="connsiteX6" fmla="*/ 513680 w 4496214"/>
              <a:gd name="connsiteY6" fmla="*/ 284 h 4695553"/>
              <a:gd name="connsiteX7" fmla="*/ 610729 w 4496214"/>
              <a:gd name="connsiteY7" fmla="*/ 77358 h 4695553"/>
              <a:gd name="connsiteX0" fmla="*/ 4496214 w 4496214"/>
              <a:gd name="connsiteY0" fmla="*/ 2853699 h 4695269"/>
              <a:gd name="connsiteX1" fmla="*/ 4327504 w 4496214"/>
              <a:gd name="connsiteY1" fmla="*/ 2969126 h 4695269"/>
              <a:gd name="connsiteX2" fmla="*/ 4128523 w 4496214"/>
              <a:gd name="connsiteY2" fmla="*/ 3104141 h 4695269"/>
              <a:gd name="connsiteX3" fmla="*/ 1946719 w 4496214"/>
              <a:gd name="connsiteY3" fmla="*/ 4497028 h 4695269"/>
              <a:gd name="connsiteX4" fmla="*/ 393090 w 4496214"/>
              <a:gd name="connsiteY4" fmla="*/ 4216828 h 4695269"/>
              <a:gd name="connsiteX5" fmla="*/ 62 w 4496214"/>
              <a:gd name="connsiteY5" fmla="*/ 2710193 h 4695269"/>
              <a:gd name="connsiteX6" fmla="*/ 513680 w 4496214"/>
              <a:gd name="connsiteY6" fmla="*/ 0 h 46952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96214" h="4695269">
                <a:moveTo>
                  <a:pt x="4496214" y="2853699"/>
                </a:moveTo>
                <a:lnTo>
                  <a:pt x="4327504" y="2969126"/>
                </a:lnTo>
                <a:lnTo>
                  <a:pt x="4128523" y="3104141"/>
                </a:lnTo>
                <a:cubicBezTo>
                  <a:pt x="3416510" y="3596007"/>
                  <a:pt x="2702940" y="4086860"/>
                  <a:pt x="1946719" y="4497028"/>
                </a:cubicBezTo>
                <a:cubicBezTo>
                  <a:pt x="1506382" y="4736123"/>
                  <a:pt x="872113" y="4874226"/>
                  <a:pt x="393090" y="4216828"/>
                </a:cubicBezTo>
                <a:cubicBezTo>
                  <a:pt x="73281" y="3777627"/>
                  <a:pt x="-2478" y="3192354"/>
                  <a:pt x="62" y="2710193"/>
                </a:cubicBezTo>
                <a:cubicBezTo>
                  <a:pt x="5227" y="1733619"/>
                  <a:pt x="200135" y="801687"/>
                  <a:pt x="513680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pic>
        <p:nvPicPr>
          <p:cNvPr id="5" name="Graphic 4" descr="Leaf with solid fill">
            <a:extLst>
              <a:ext uri="{FF2B5EF4-FFF2-40B4-BE49-F238E27FC236}">
                <a16:creationId xmlns:a16="http://schemas.microsoft.com/office/drawing/2014/main" id="{E551806C-6115-DD25-3BDD-F4B3EFBA8F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2407" y="2960462"/>
            <a:ext cx="547255" cy="52391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9186B5C-0C0D-B033-FB85-52DBD89D35E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8" y="16664"/>
            <a:ext cx="1319372" cy="88134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F5DA059A-944D-78D9-9647-2B39312FF91E}"/>
              </a:ext>
            </a:extLst>
          </p:cNvPr>
          <p:cNvSpPr txBox="1"/>
          <p:nvPr/>
        </p:nvSpPr>
        <p:spPr>
          <a:xfrm>
            <a:off x="3096818" y="3495290"/>
            <a:ext cx="4094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>
                <a:solidFill>
                  <a:schemeClr val="tx2"/>
                </a:solidFill>
                <a:latin typeface="+mj-lt"/>
              </a:rPr>
              <a:t>Current work, values, and project goals</a:t>
            </a:r>
          </a:p>
        </p:txBody>
      </p:sp>
    </p:spTree>
    <p:extLst>
      <p:ext uri="{BB962C8B-B14F-4D97-AF65-F5344CB8AC3E}">
        <p14:creationId xmlns:p14="http://schemas.microsoft.com/office/powerpoint/2010/main" val="1862528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3B2B1500-BB55-471C-8A9E-67288297EC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29224"/>
            <a:ext cx="6305549" cy="6328777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045E22C-A99D-41BB-AF14-EF1B1E745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6525"/>
            <a:ext cx="6130391" cy="672147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680ED9-2EFD-717C-C712-028C901C99B7}"/>
              </a:ext>
            </a:extLst>
          </p:cNvPr>
          <p:cNvSpPr txBox="1"/>
          <p:nvPr/>
        </p:nvSpPr>
        <p:spPr>
          <a:xfrm>
            <a:off x="5031036" y="339686"/>
            <a:ext cx="691308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endParaRPr lang="en-US" sz="32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732023-0CDA-D752-5D6C-027E0505E888}"/>
              </a:ext>
            </a:extLst>
          </p:cNvPr>
          <p:cNvSpPr txBox="1"/>
          <p:nvPr/>
        </p:nvSpPr>
        <p:spPr>
          <a:xfrm>
            <a:off x="5444168" y="275421"/>
            <a:ext cx="632551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/>
              <a:t>What is our Platform?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562188-137D-C3A8-C0D3-11726A8BF7CF}"/>
              </a:ext>
            </a:extLst>
          </p:cNvPr>
          <p:cNvSpPr txBox="1"/>
          <p:nvPr/>
        </p:nvSpPr>
        <p:spPr>
          <a:xfrm>
            <a:off x="5269735" y="927253"/>
            <a:ext cx="6600939" cy="10618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100"/>
              <a:t>A social media platform that promotes natural growth of post into forums with a community built around them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1250C9-D071-A578-1B8E-033DFED2899F}"/>
              </a:ext>
            </a:extLst>
          </p:cNvPr>
          <p:cNvSpPr txBox="1"/>
          <p:nvPr/>
        </p:nvSpPr>
        <p:spPr>
          <a:xfrm>
            <a:off x="6233711" y="2212553"/>
            <a:ext cx="58481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/>
              <a:t>How is it Different?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6DBD73-69DE-7409-929D-231F5F499EE6}"/>
              </a:ext>
            </a:extLst>
          </p:cNvPr>
          <p:cNvSpPr txBox="1"/>
          <p:nvPr/>
        </p:nvSpPr>
        <p:spPr>
          <a:xfrm>
            <a:off x="6307156" y="3020457"/>
            <a:ext cx="5811397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100"/>
              <a:t>Plant allows posts to evolve relationally with the interest shown in them from the community, rather than organizational effort</a:t>
            </a:r>
          </a:p>
          <a:p>
            <a:endParaRPr lang="en-US" sz="2100"/>
          </a:p>
          <a:p>
            <a:pPr marL="342900" indent="-342900">
              <a:buFont typeface="Arial"/>
              <a:buChar char="•"/>
            </a:pPr>
            <a:r>
              <a:rPr lang="en-US" sz="2100"/>
              <a:t>Content shown to the user is defined by the user through their interest, interactions, and preferences</a:t>
            </a:r>
          </a:p>
        </p:txBody>
      </p:sp>
    </p:spTree>
    <p:extLst>
      <p:ext uri="{BB962C8B-B14F-4D97-AF65-F5344CB8AC3E}">
        <p14:creationId xmlns:p14="http://schemas.microsoft.com/office/powerpoint/2010/main" val="55699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34693E6-E59B-4EC3-A1EA-E5A74E92F3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73597" y="835592"/>
            <a:ext cx="6095980" cy="5948805"/>
          </a:xfrm>
          <a:custGeom>
            <a:avLst/>
            <a:gdLst>
              <a:gd name="connsiteX0" fmla="*/ 0 w 4212773"/>
              <a:gd name="connsiteY0" fmla="*/ 0 h 6498740"/>
              <a:gd name="connsiteX1" fmla="*/ 159023 w 4212773"/>
              <a:gd name="connsiteY1" fmla="*/ 12872 h 6498740"/>
              <a:gd name="connsiteX2" fmla="*/ 1697597 w 4212773"/>
              <a:gd name="connsiteY2" fmla="*/ 306418 h 6498740"/>
              <a:gd name="connsiteX3" fmla="*/ 4047822 w 4212773"/>
              <a:gd name="connsiteY3" fmla="*/ 3511272 h 6498740"/>
              <a:gd name="connsiteX4" fmla="*/ 3551503 w 4212773"/>
              <a:gd name="connsiteY4" fmla="*/ 6184235 h 6498740"/>
              <a:gd name="connsiteX5" fmla="*/ 3163159 w 4212773"/>
              <a:gd name="connsiteY5" fmla="*/ 6459073 h 6498740"/>
              <a:gd name="connsiteX6" fmla="*/ 3092077 w 4212773"/>
              <a:gd name="connsiteY6" fmla="*/ 6498740 h 6498740"/>
              <a:gd name="connsiteX7" fmla="*/ 0 w 4212773"/>
              <a:gd name="connsiteY7" fmla="*/ 6498740 h 6498740"/>
              <a:gd name="connsiteX8" fmla="*/ 0 w 4212773"/>
              <a:gd name="connsiteY8" fmla="*/ 0 h 6498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212773" h="6498740">
                <a:moveTo>
                  <a:pt x="0" y="0"/>
                </a:moveTo>
                <a:lnTo>
                  <a:pt x="159023" y="12872"/>
                </a:lnTo>
                <a:cubicBezTo>
                  <a:pt x="659101" y="63644"/>
                  <a:pt x="1176498" y="175345"/>
                  <a:pt x="1697597" y="306418"/>
                </a:cubicBezTo>
                <a:cubicBezTo>
                  <a:pt x="3312474" y="712392"/>
                  <a:pt x="3742395" y="1999786"/>
                  <a:pt x="4047822" y="3511272"/>
                </a:cubicBezTo>
                <a:cubicBezTo>
                  <a:pt x="4252232" y="4523358"/>
                  <a:pt x="4422733" y="5443193"/>
                  <a:pt x="3551503" y="6184235"/>
                </a:cubicBezTo>
                <a:cubicBezTo>
                  <a:pt x="3429343" y="6288166"/>
                  <a:pt x="3299185" y="6378784"/>
                  <a:pt x="3163159" y="6459073"/>
                </a:cubicBezTo>
                <a:lnTo>
                  <a:pt x="3092077" y="6498740"/>
                </a:lnTo>
                <a:lnTo>
                  <a:pt x="0" y="649874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47DB6CD-8E9E-4643-B3B6-01BD80429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23838" y="538152"/>
            <a:ext cx="6095989" cy="6543686"/>
          </a:xfrm>
          <a:custGeom>
            <a:avLst/>
            <a:gdLst>
              <a:gd name="connsiteX0" fmla="*/ 0 w 4033589"/>
              <a:gd name="connsiteY0" fmla="*/ 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8" fmla="*/ 0 w 4033589"/>
              <a:gd name="connsiteY8" fmla="*/ 0 h 6858000"/>
              <a:gd name="connsiteX0" fmla="*/ 0 w 4033589"/>
              <a:gd name="connsiteY0" fmla="*/ 6858000 h 6858000"/>
              <a:gd name="connsiteX1" fmla="*/ 1878934 w 4033589"/>
              <a:gd name="connsiteY1" fmla="*/ 0 h 6858000"/>
              <a:gd name="connsiteX2" fmla="*/ 1882313 w 4033589"/>
              <a:gd name="connsiteY2" fmla="*/ 2021 h 6858000"/>
              <a:gd name="connsiteX3" fmla="*/ 3475371 w 4033589"/>
              <a:gd name="connsiteY3" fmla="*/ 1517967 h 6858000"/>
              <a:gd name="connsiteX4" fmla="*/ 3975977 w 4033589"/>
              <a:gd name="connsiteY4" fmla="*/ 4379386 h 6858000"/>
              <a:gd name="connsiteX5" fmla="*/ 3312864 w 4033589"/>
              <a:gd name="connsiteY5" fmla="*/ 6852362 h 6858000"/>
              <a:gd name="connsiteX6" fmla="*/ 3310593 w 4033589"/>
              <a:gd name="connsiteY6" fmla="*/ 6858000 h 6858000"/>
              <a:gd name="connsiteX7" fmla="*/ 0 w 4033589"/>
              <a:gd name="connsiteY7" fmla="*/ 6858000 h 685800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1787494 w 3942149"/>
              <a:gd name="connsiteY0" fmla="*/ 0 h 6949440"/>
              <a:gd name="connsiteX1" fmla="*/ 1790873 w 3942149"/>
              <a:gd name="connsiteY1" fmla="*/ 2021 h 6949440"/>
              <a:gd name="connsiteX2" fmla="*/ 3383931 w 3942149"/>
              <a:gd name="connsiteY2" fmla="*/ 1517967 h 6949440"/>
              <a:gd name="connsiteX3" fmla="*/ 3884537 w 3942149"/>
              <a:gd name="connsiteY3" fmla="*/ 4379386 h 6949440"/>
              <a:gd name="connsiteX4" fmla="*/ 3221424 w 3942149"/>
              <a:gd name="connsiteY4" fmla="*/ 6852362 h 6949440"/>
              <a:gd name="connsiteX5" fmla="*/ 3219153 w 3942149"/>
              <a:gd name="connsiteY5" fmla="*/ 6858000 h 6949440"/>
              <a:gd name="connsiteX6" fmla="*/ 0 w 3942149"/>
              <a:gd name="connsiteY6" fmla="*/ 6949440 h 6949440"/>
              <a:gd name="connsiteX0" fmla="*/ 0 w 2154655"/>
              <a:gd name="connsiteY0" fmla="*/ 0 h 6858000"/>
              <a:gd name="connsiteX1" fmla="*/ 3379 w 2154655"/>
              <a:gd name="connsiteY1" fmla="*/ 2021 h 6858000"/>
              <a:gd name="connsiteX2" fmla="*/ 1596437 w 2154655"/>
              <a:gd name="connsiteY2" fmla="*/ 1517967 h 6858000"/>
              <a:gd name="connsiteX3" fmla="*/ 2097043 w 2154655"/>
              <a:gd name="connsiteY3" fmla="*/ 4379386 h 6858000"/>
              <a:gd name="connsiteX4" fmla="*/ 1433930 w 2154655"/>
              <a:gd name="connsiteY4" fmla="*/ 6852362 h 6858000"/>
              <a:gd name="connsiteX5" fmla="*/ 1431659 w 2154655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54655" h="6858000">
                <a:moveTo>
                  <a:pt x="0" y="0"/>
                </a:moveTo>
                <a:lnTo>
                  <a:pt x="3379" y="2021"/>
                </a:lnTo>
                <a:cubicBezTo>
                  <a:pt x="667061" y="423753"/>
                  <a:pt x="1239365" y="963389"/>
                  <a:pt x="1596437" y="1517967"/>
                </a:cubicBezTo>
                <a:cubicBezTo>
                  <a:pt x="2133142" y="2350886"/>
                  <a:pt x="2239839" y="3395752"/>
                  <a:pt x="2097043" y="4379386"/>
                </a:cubicBezTo>
                <a:cubicBezTo>
                  <a:pt x="2032295" y="4824358"/>
                  <a:pt x="1812506" y="5869368"/>
                  <a:pt x="1433930" y="6852362"/>
                </a:cubicBezTo>
                <a:lnTo>
                  <a:pt x="1431659" y="6858000"/>
                </a:ln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F7114E-DA12-FCE4-7685-AB00A540C724}"/>
              </a:ext>
            </a:extLst>
          </p:cNvPr>
          <p:cNvSpPr txBox="1"/>
          <p:nvPr/>
        </p:nvSpPr>
        <p:spPr>
          <a:xfrm>
            <a:off x="4590361" y="394771"/>
            <a:ext cx="706915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/>
              <a:t>What are our objectives?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958E2A-714E-6071-ED60-1DE91CF5811A}"/>
              </a:ext>
            </a:extLst>
          </p:cNvPr>
          <p:cNvSpPr txBox="1"/>
          <p:nvPr/>
        </p:nvSpPr>
        <p:spPr>
          <a:xfrm>
            <a:off x="5031035" y="1211854"/>
            <a:ext cx="6757012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100"/>
              <a:t>Plant's objective is to create a social media platform with content that the user is actually interested in and can form a community around with others that share similar interest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095A38-D1BA-6F9B-31BD-66307FF55BBA}"/>
              </a:ext>
            </a:extLst>
          </p:cNvPr>
          <p:cNvSpPr txBox="1"/>
          <p:nvPr/>
        </p:nvSpPr>
        <p:spPr>
          <a:xfrm>
            <a:off x="5949108" y="2790939"/>
            <a:ext cx="592156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/>
              <a:t>How will we track this?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189BE3-46EF-5E82-6EC6-52C61F209849}"/>
              </a:ext>
            </a:extLst>
          </p:cNvPr>
          <p:cNvSpPr txBox="1"/>
          <p:nvPr/>
        </p:nvSpPr>
        <p:spPr>
          <a:xfrm>
            <a:off x="6270434" y="3497856"/>
            <a:ext cx="5269734" cy="30008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100"/>
              <a:t>The metrics that will be used to measure success include :</a:t>
            </a:r>
          </a:p>
          <a:p>
            <a:pPr marL="800100" lvl="1" indent="-342900">
              <a:buFont typeface="Arial"/>
              <a:buChar char="•"/>
            </a:pPr>
            <a:r>
              <a:rPr lang="en-US" sz="2100"/>
              <a:t># of posts that "graduate" to forums per week</a:t>
            </a:r>
          </a:p>
          <a:p>
            <a:pPr marL="800100" lvl="1" indent="-342900">
              <a:buFont typeface="Arial"/>
              <a:buChar char="•"/>
            </a:pPr>
            <a:r>
              <a:rPr lang="en-US" sz="2100"/>
              <a:t>Average lifespan after a forum spawns</a:t>
            </a:r>
          </a:p>
          <a:p>
            <a:pPr marL="800100" lvl="1" indent="-342900">
              <a:buFont typeface="Arial"/>
              <a:buChar char="•"/>
            </a:pPr>
            <a:r>
              <a:rPr lang="en-US" sz="2100"/>
              <a:t>User engagement rates</a:t>
            </a:r>
          </a:p>
          <a:p>
            <a:pPr marL="800100" lvl="1" indent="-342900">
              <a:buFont typeface="Arial"/>
              <a:buChar char="•"/>
            </a:pPr>
            <a:r>
              <a:rPr lang="en-US" sz="2100"/>
              <a:t>User growth rate</a:t>
            </a:r>
          </a:p>
          <a:p>
            <a:pPr marL="800100" lvl="1" indent="-342900">
              <a:buFont typeface="Arial"/>
              <a:buChar char="•"/>
            </a:pPr>
            <a:r>
              <a:rPr lang="en-US" sz="2100"/>
              <a:t>Quality survey results from users</a:t>
            </a:r>
          </a:p>
        </p:txBody>
      </p:sp>
    </p:spTree>
    <p:extLst>
      <p:ext uri="{BB962C8B-B14F-4D97-AF65-F5344CB8AC3E}">
        <p14:creationId xmlns:p14="http://schemas.microsoft.com/office/powerpoint/2010/main" val="8365188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CA8406-3BCD-4934-B408-C7D83CBB31D1}"/>
              </a:ext>
            </a:extLst>
          </p:cNvPr>
          <p:cNvSpPr txBox="1"/>
          <p:nvPr/>
        </p:nvSpPr>
        <p:spPr>
          <a:xfrm>
            <a:off x="963976" y="201975"/>
            <a:ext cx="1080571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/>
              <a:t>How is this Business Sustainable?</a:t>
            </a:r>
            <a:endParaRPr lang="en-US"/>
          </a:p>
        </p:txBody>
      </p:sp>
      <p:sp>
        <p:nvSpPr>
          <p:cNvPr id="5" name="Card Advertising"/>
          <p:cNvSpPr/>
          <p:nvPr/>
        </p:nvSpPr>
        <p:spPr>
          <a:xfrm>
            <a:off x="822960" y="1234440"/>
            <a:ext cx="3429000" cy="448056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1463040"/>
            <a:ext cx="502920" cy="50292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E2733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481328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Advertising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297180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</a:rPr>
              <a:t>Personal ads: pay to promote your forum on Explore, in its category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</a:rPr>
              <a:t>Business ads: tiered reach, products only</a:t>
            </a:r>
          </a:p>
        </p:txBody>
      </p:sp>
      <p:sp>
        <p:nvSpPr>
          <p:cNvPr id="9" name="Card Data"/>
          <p:cNvSpPr/>
          <p:nvPr/>
        </p:nvSpPr>
        <p:spPr>
          <a:xfrm>
            <a:off x="4526280" y="1234440"/>
            <a:ext cx="3429000" cy="448056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754880" y="1463040"/>
            <a:ext cx="502920" cy="50292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E2733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1481328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286000"/>
            <a:ext cx="297180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</a:rPr>
              <a:t>Usage data (no personal info) sold to brokers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</a:rPr>
              <a:t>Forums visited, common queries, rough location, post interactions</a:t>
            </a:r>
          </a:p>
        </p:txBody>
      </p:sp>
      <p:sp>
        <p:nvSpPr>
          <p:cNvPr id="13" name="Card Premium"/>
          <p:cNvSpPr/>
          <p:nvPr/>
        </p:nvSpPr>
        <p:spPr>
          <a:xfrm>
            <a:off x="8229600" y="1234440"/>
            <a:ext cx="3429000" cy="448056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458200" y="1463040"/>
            <a:ext cx="502920" cy="50292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E2733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481328"/>
            <a:ext cx="2423160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286000"/>
            <a:ext cx="2971800" cy="32918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</a:rPr>
              <a:t>Subscription: animated profile image, avatar frames, animated backgrounds, user tags</a:t>
            </a:r>
          </a:p>
          <a:p>
            <a:pPr algn="l">
              <a:spcAft>
                <a:spcPts val="1600"/>
              </a:spcAft>
            </a:pPr>
            <a:r>
              <a:rPr sz="1800" b="0">
                <a:solidFill>
                  <a:srgbClr val="FFFFFF"/>
                </a:solidFill>
              </a:rPr>
              <a:t>Ad-free mode: ads only on Explore</a:t>
            </a:r>
          </a:p>
        </p:txBody>
      </p:sp>
    </p:spTree>
    <p:extLst>
      <p:ext uri="{BB962C8B-B14F-4D97-AF65-F5344CB8AC3E}">
        <p14:creationId xmlns:p14="http://schemas.microsoft.com/office/powerpoint/2010/main" val="4204972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87A0FBA-CC04-4256-A8EB-BB3C543E98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5815A23-71BB-4173-B4BF-E90CD9D20A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08054" y="0"/>
            <a:ext cx="4583947" cy="6131671"/>
          </a:xfrm>
          <a:custGeom>
            <a:avLst/>
            <a:gdLst>
              <a:gd name="connsiteX0" fmla="*/ 1303111 w 4583947"/>
              <a:gd name="connsiteY0" fmla="*/ 0 h 6131671"/>
              <a:gd name="connsiteX1" fmla="*/ 4583947 w 4583947"/>
              <a:gd name="connsiteY1" fmla="*/ 0 h 6131671"/>
              <a:gd name="connsiteX2" fmla="*/ 4583947 w 4583947"/>
              <a:gd name="connsiteY2" fmla="*/ 4228311 h 6131671"/>
              <a:gd name="connsiteX3" fmla="*/ 4541880 w 4583947"/>
              <a:gd name="connsiteY3" fmla="*/ 4258857 h 6131671"/>
              <a:gd name="connsiteX4" fmla="*/ 4128523 w 4583947"/>
              <a:gd name="connsiteY4" fmla="*/ 4540543 h 6131671"/>
              <a:gd name="connsiteX5" fmla="*/ 1946719 w 4583947"/>
              <a:gd name="connsiteY5" fmla="*/ 5933430 h 6131671"/>
              <a:gd name="connsiteX6" fmla="*/ 393090 w 4583947"/>
              <a:gd name="connsiteY6" fmla="*/ 5653230 h 6131671"/>
              <a:gd name="connsiteX7" fmla="*/ 62 w 4583947"/>
              <a:gd name="connsiteY7" fmla="*/ 4146595 h 6131671"/>
              <a:gd name="connsiteX8" fmla="*/ 1277882 w 4583947"/>
              <a:gd name="connsiteY8" fmla="*/ 32051 h 61316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83947" h="6131671">
                <a:moveTo>
                  <a:pt x="1303111" y="0"/>
                </a:moveTo>
                <a:lnTo>
                  <a:pt x="4583947" y="0"/>
                </a:lnTo>
                <a:lnTo>
                  <a:pt x="4583947" y="4228311"/>
                </a:lnTo>
                <a:lnTo>
                  <a:pt x="4541880" y="4258857"/>
                </a:lnTo>
                <a:cubicBezTo>
                  <a:pt x="4395640" y="4361102"/>
                  <a:pt x="4254236" y="4453840"/>
                  <a:pt x="4128523" y="4540543"/>
                </a:cubicBezTo>
                <a:cubicBezTo>
                  <a:pt x="3416510" y="5032410"/>
                  <a:pt x="2702940" y="5523262"/>
                  <a:pt x="1946719" y="5933430"/>
                </a:cubicBezTo>
                <a:cubicBezTo>
                  <a:pt x="1506382" y="6172525"/>
                  <a:pt x="872113" y="6310628"/>
                  <a:pt x="393090" y="5653230"/>
                </a:cubicBezTo>
                <a:cubicBezTo>
                  <a:pt x="73281" y="5214029"/>
                  <a:pt x="-2478" y="4628756"/>
                  <a:pt x="62" y="4146595"/>
                </a:cubicBezTo>
                <a:cubicBezTo>
                  <a:pt x="8670" y="2518973"/>
                  <a:pt x="544344" y="1015353"/>
                  <a:pt x="1277882" y="3205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423BB46-9386-40B6-B6A8-70CDDE734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9075" y="16663"/>
            <a:ext cx="4352924" cy="6092804"/>
          </a:xfrm>
          <a:custGeom>
            <a:avLst/>
            <a:gdLst>
              <a:gd name="connsiteX0" fmla="*/ 520805 w 4496214"/>
              <a:gd name="connsiteY0" fmla="*/ 0 h 4712444"/>
              <a:gd name="connsiteX1" fmla="*/ 4496214 w 4496214"/>
              <a:gd name="connsiteY1" fmla="*/ 0 h 4712444"/>
              <a:gd name="connsiteX2" fmla="*/ 4496214 w 4496214"/>
              <a:gd name="connsiteY2" fmla="*/ 2870874 h 4712444"/>
              <a:gd name="connsiteX3" fmla="*/ 4327504 w 4496214"/>
              <a:gd name="connsiteY3" fmla="*/ 2986301 h 4712444"/>
              <a:gd name="connsiteX4" fmla="*/ 4128523 w 4496214"/>
              <a:gd name="connsiteY4" fmla="*/ 3121316 h 4712444"/>
              <a:gd name="connsiteX5" fmla="*/ 1946719 w 4496214"/>
              <a:gd name="connsiteY5" fmla="*/ 4514203 h 4712444"/>
              <a:gd name="connsiteX6" fmla="*/ 393090 w 4496214"/>
              <a:gd name="connsiteY6" fmla="*/ 4234003 h 4712444"/>
              <a:gd name="connsiteX7" fmla="*/ 62 w 4496214"/>
              <a:gd name="connsiteY7" fmla="*/ 2727368 h 4712444"/>
              <a:gd name="connsiteX8" fmla="*/ 513680 w 4496214"/>
              <a:gd name="connsiteY8" fmla="*/ 17175 h 4712444"/>
              <a:gd name="connsiteX0" fmla="*/ 4496214 w 4496214"/>
              <a:gd name="connsiteY0" fmla="*/ 0 h 4712444"/>
              <a:gd name="connsiteX1" fmla="*/ 4496214 w 4496214"/>
              <a:gd name="connsiteY1" fmla="*/ 2870874 h 4712444"/>
              <a:gd name="connsiteX2" fmla="*/ 4327504 w 4496214"/>
              <a:gd name="connsiteY2" fmla="*/ 2986301 h 4712444"/>
              <a:gd name="connsiteX3" fmla="*/ 4128523 w 4496214"/>
              <a:gd name="connsiteY3" fmla="*/ 3121316 h 4712444"/>
              <a:gd name="connsiteX4" fmla="*/ 1946719 w 4496214"/>
              <a:gd name="connsiteY4" fmla="*/ 4514203 h 4712444"/>
              <a:gd name="connsiteX5" fmla="*/ 393090 w 4496214"/>
              <a:gd name="connsiteY5" fmla="*/ 4234003 h 4712444"/>
              <a:gd name="connsiteX6" fmla="*/ 62 w 4496214"/>
              <a:gd name="connsiteY6" fmla="*/ 2727368 h 4712444"/>
              <a:gd name="connsiteX7" fmla="*/ 513680 w 4496214"/>
              <a:gd name="connsiteY7" fmla="*/ 17175 h 4712444"/>
              <a:gd name="connsiteX8" fmla="*/ 610729 w 4496214"/>
              <a:gd name="connsiteY8" fmla="*/ 94249 h 4712444"/>
              <a:gd name="connsiteX0" fmla="*/ 4496214 w 4496214"/>
              <a:gd name="connsiteY0" fmla="*/ 2853983 h 4695553"/>
              <a:gd name="connsiteX1" fmla="*/ 4327504 w 4496214"/>
              <a:gd name="connsiteY1" fmla="*/ 2969410 h 4695553"/>
              <a:gd name="connsiteX2" fmla="*/ 4128523 w 4496214"/>
              <a:gd name="connsiteY2" fmla="*/ 3104425 h 4695553"/>
              <a:gd name="connsiteX3" fmla="*/ 1946719 w 4496214"/>
              <a:gd name="connsiteY3" fmla="*/ 4497312 h 4695553"/>
              <a:gd name="connsiteX4" fmla="*/ 393090 w 4496214"/>
              <a:gd name="connsiteY4" fmla="*/ 4217112 h 4695553"/>
              <a:gd name="connsiteX5" fmla="*/ 62 w 4496214"/>
              <a:gd name="connsiteY5" fmla="*/ 2710477 h 4695553"/>
              <a:gd name="connsiteX6" fmla="*/ 513680 w 4496214"/>
              <a:gd name="connsiteY6" fmla="*/ 284 h 4695553"/>
              <a:gd name="connsiteX7" fmla="*/ 610729 w 4496214"/>
              <a:gd name="connsiteY7" fmla="*/ 77358 h 4695553"/>
              <a:gd name="connsiteX0" fmla="*/ 4496214 w 4496214"/>
              <a:gd name="connsiteY0" fmla="*/ 2853699 h 4695269"/>
              <a:gd name="connsiteX1" fmla="*/ 4327504 w 4496214"/>
              <a:gd name="connsiteY1" fmla="*/ 2969126 h 4695269"/>
              <a:gd name="connsiteX2" fmla="*/ 4128523 w 4496214"/>
              <a:gd name="connsiteY2" fmla="*/ 3104141 h 4695269"/>
              <a:gd name="connsiteX3" fmla="*/ 1946719 w 4496214"/>
              <a:gd name="connsiteY3" fmla="*/ 4497028 h 4695269"/>
              <a:gd name="connsiteX4" fmla="*/ 393090 w 4496214"/>
              <a:gd name="connsiteY4" fmla="*/ 4216828 h 4695269"/>
              <a:gd name="connsiteX5" fmla="*/ 62 w 4496214"/>
              <a:gd name="connsiteY5" fmla="*/ 2710193 h 4695269"/>
              <a:gd name="connsiteX6" fmla="*/ 513680 w 4496214"/>
              <a:gd name="connsiteY6" fmla="*/ 0 h 4695269"/>
              <a:gd name="connsiteX0" fmla="*/ 4496214 w 4496214"/>
              <a:gd name="connsiteY0" fmla="*/ 2853699 h 4650427"/>
              <a:gd name="connsiteX1" fmla="*/ 4327504 w 4496214"/>
              <a:gd name="connsiteY1" fmla="*/ 2969126 h 4650427"/>
              <a:gd name="connsiteX2" fmla="*/ 4128523 w 4496214"/>
              <a:gd name="connsiteY2" fmla="*/ 3104141 h 4650427"/>
              <a:gd name="connsiteX3" fmla="*/ 3578025 w 4496214"/>
              <a:gd name="connsiteY3" fmla="*/ 3466740 h 4650427"/>
              <a:gd name="connsiteX4" fmla="*/ 1946719 w 4496214"/>
              <a:gd name="connsiteY4" fmla="*/ 4497028 h 4650427"/>
              <a:gd name="connsiteX5" fmla="*/ 393090 w 4496214"/>
              <a:gd name="connsiteY5" fmla="*/ 4216828 h 4650427"/>
              <a:gd name="connsiteX6" fmla="*/ 62 w 4496214"/>
              <a:gd name="connsiteY6" fmla="*/ 2710193 h 4650427"/>
              <a:gd name="connsiteX7" fmla="*/ 513680 w 4496214"/>
              <a:gd name="connsiteY7" fmla="*/ 0 h 4650427"/>
              <a:gd name="connsiteX0" fmla="*/ 4496214 w 4496214"/>
              <a:gd name="connsiteY0" fmla="*/ 2853699 h 4650427"/>
              <a:gd name="connsiteX1" fmla="*/ 4327504 w 4496214"/>
              <a:gd name="connsiteY1" fmla="*/ 2969126 h 4650427"/>
              <a:gd name="connsiteX2" fmla="*/ 4128523 w 4496214"/>
              <a:gd name="connsiteY2" fmla="*/ 3104141 h 4650427"/>
              <a:gd name="connsiteX3" fmla="*/ 3578025 w 4496214"/>
              <a:gd name="connsiteY3" fmla="*/ 3466740 h 4650427"/>
              <a:gd name="connsiteX4" fmla="*/ 1946719 w 4496214"/>
              <a:gd name="connsiteY4" fmla="*/ 4497028 h 4650427"/>
              <a:gd name="connsiteX5" fmla="*/ 393090 w 4496214"/>
              <a:gd name="connsiteY5" fmla="*/ 4216828 h 4650427"/>
              <a:gd name="connsiteX6" fmla="*/ 62 w 4496214"/>
              <a:gd name="connsiteY6" fmla="*/ 2710193 h 4650427"/>
              <a:gd name="connsiteX7" fmla="*/ 513680 w 4496214"/>
              <a:gd name="connsiteY7" fmla="*/ 0 h 4650427"/>
              <a:gd name="connsiteX0" fmla="*/ 4496214 w 4496214"/>
              <a:gd name="connsiteY0" fmla="*/ 2853699 h 4650427"/>
              <a:gd name="connsiteX1" fmla="*/ 4327504 w 4496214"/>
              <a:gd name="connsiteY1" fmla="*/ 2969126 h 4650427"/>
              <a:gd name="connsiteX2" fmla="*/ 3578025 w 4496214"/>
              <a:gd name="connsiteY2" fmla="*/ 3466740 h 4650427"/>
              <a:gd name="connsiteX3" fmla="*/ 1946719 w 4496214"/>
              <a:gd name="connsiteY3" fmla="*/ 4497028 h 4650427"/>
              <a:gd name="connsiteX4" fmla="*/ 393090 w 4496214"/>
              <a:gd name="connsiteY4" fmla="*/ 4216828 h 4650427"/>
              <a:gd name="connsiteX5" fmla="*/ 62 w 4496214"/>
              <a:gd name="connsiteY5" fmla="*/ 2710193 h 4650427"/>
              <a:gd name="connsiteX6" fmla="*/ 513680 w 4496214"/>
              <a:gd name="connsiteY6" fmla="*/ 0 h 4650427"/>
              <a:gd name="connsiteX0" fmla="*/ 4496214 w 4496214"/>
              <a:gd name="connsiteY0" fmla="*/ 2853699 h 4650427"/>
              <a:gd name="connsiteX1" fmla="*/ 3578025 w 4496214"/>
              <a:gd name="connsiteY1" fmla="*/ 3466740 h 4650427"/>
              <a:gd name="connsiteX2" fmla="*/ 1946719 w 4496214"/>
              <a:gd name="connsiteY2" fmla="*/ 4497028 h 4650427"/>
              <a:gd name="connsiteX3" fmla="*/ 393090 w 4496214"/>
              <a:gd name="connsiteY3" fmla="*/ 4216828 h 4650427"/>
              <a:gd name="connsiteX4" fmla="*/ 62 w 4496214"/>
              <a:gd name="connsiteY4" fmla="*/ 2710193 h 4650427"/>
              <a:gd name="connsiteX5" fmla="*/ 513680 w 4496214"/>
              <a:gd name="connsiteY5" fmla="*/ 0 h 4650427"/>
              <a:gd name="connsiteX0" fmla="*/ 3578025 w 3578025"/>
              <a:gd name="connsiteY0" fmla="*/ 3466740 h 4650427"/>
              <a:gd name="connsiteX1" fmla="*/ 1946719 w 3578025"/>
              <a:gd name="connsiteY1" fmla="*/ 4497028 h 4650427"/>
              <a:gd name="connsiteX2" fmla="*/ 393090 w 3578025"/>
              <a:gd name="connsiteY2" fmla="*/ 4216828 h 4650427"/>
              <a:gd name="connsiteX3" fmla="*/ 62 w 3578025"/>
              <a:gd name="connsiteY3" fmla="*/ 2710193 h 4650427"/>
              <a:gd name="connsiteX4" fmla="*/ 513680 w 3578025"/>
              <a:gd name="connsiteY4" fmla="*/ 0 h 4650427"/>
              <a:gd name="connsiteX0" fmla="*/ 3578025 w 3578025"/>
              <a:gd name="connsiteY0" fmla="*/ 3466740 h 4705670"/>
              <a:gd name="connsiteX1" fmla="*/ 1946719 w 3578025"/>
              <a:gd name="connsiteY1" fmla="*/ 4497028 h 4705670"/>
              <a:gd name="connsiteX2" fmla="*/ 393090 w 3578025"/>
              <a:gd name="connsiteY2" fmla="*/ 4216828 h 4705670"/>
              <a:gd name="connsiteX3" fmla="*/ 62 w 3578025"/>
              <a:gd name="connsiteY3" fmla="*/ 2710193 h 4705670"/>
              <a:gd name="connsiteX4" fmla="*/ 513680 w 3578025"/>
              <a:gd name="connsiteY4" fmla="*/ 0 h 47056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8025" h="4705670">
                <a:moveTo>
                  <a:pt x="3578025" y="3466740"/>
                </a:moveTo>
                <a:cubicBezTo>
                  <a:pt x="3034256" y="3810169"/>
                  <a:pt x="2520630" y="4206761"/>
                  <a:pt x="1946719" y="4497028"/>
                </a:cubicBezTo>
                <a:cubicBezTo>
                  <a:pt x="1423184" y="4761816"/>
                  <a:pt x="872113" y="4874226"/>
                  <a:pt x="393090" y="4216828"/>
                </a:cubicBezTo>
                <a:cubicBezTo>
                  <a:pt x="73281" y="3777627"/>
                  <a:pt x="-2478" y="3192354"/>
                  <a:pt x="62" y="2710193"/>
                </a:cubicBezTo>
                <a:cubicBezTo>
                  <a:pt x="5227" y="1733619"/>
                  <a:pt x="200135" y="801687"/>
                  <a:pt x="513680" y="0"/>
                </a:cubicBezTo>
              </a:path>
            </a:pathLst>
          </a:cu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Avenir Next LT Pro Light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C536CE-1C5D-54B9-79A0-22360352864A}"/>
              </a:ext>
            </a:extLst>
          </p:cNvPr>
          <p:cNvSpPr txBox="1"/>
          <p:nvPr/>
        </p:nvSpPr>
        <p:spPr>
          <a:xfrm>
            <a:off x="766390" y="293650"/>
            <a:ext cx="71976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/>
              <a:t>Major Features</a:t>
            </a:r>
          </a:p>
        </p:txBody>
      </p:sp>
      <p:sp>
        <p:nvSpPr>
          <p:cNvPr id="17" name="Feature 1"/>
          <p:cNvSpPr/>
          <p:nvPr/>
        </p:nvSpPr>
        <p:spPr>
          <a:xfrm>
            <a:off x="822960" y="13716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05840" y="1554480"/>
            <a:ext cx="384048" cy="384048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057400"/>
            <a:ext cx="1920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Interactive dashboard</a:t>
            </a:r>
          </a:p>
        </p:txBody>
      </p:sp>
      <p:sp>
        <p:nvSpPr>
          <p:cNvPr id="20" name="Feature 2"/>
          <p:cNvSpPr/>
          <p:nvPr/>
        </p:nvSpPr>
        <p:spPr>
          <a:xfrm>
            <a:off x="3200400" y="13716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3383280" y="1554480"/>
            <a:ext cx="384048" cy="384048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2057400"/>
            <a:ext cx="1920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Personal accounts</a:t>
            </a:r>
          </a:p>
        </p:txBody>
      </p:sp>
      <p:sp>
        <p:nvSpPr>
          <p:cNvPr id="23" name="Feature 3"/>
          <p:cNvSpPr/>
          <p:nvPr/>
        </p:nvSpPr>
        <p:spPr>
          <a:xfrm>
            <a:off x="5577840" y="137160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760720" y="1554480"/>
            <a:ext cx="384048" cy="384048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2057400"/>
            <a:ext cx="1920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Individual profile pages</a:t>
            </a:r>
          </a:p>
        </p:txBody>
      </p:sp>
      <p:sp>
        <p:nvSpPr>
          <p:cNvPr id="26" name="Feature 4"/>
          <p:cNvSpPr/>
          <p:nvPr/>
        </p:nvSpPr>
        <p:spPr>
          <a:xfrm>
            <a:off x="822960" y="30175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005840" y="3200400"/>
            <a:ext cx="384048" cy="384048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3703320"/>
            <a:ext cx="1920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Post-to-forum progression</a:t>
            </a:r>
          </a:p>
        </p:txBody>
      </p:sp>
      <p:sp>
        <p:nvSpPr>
          <p:cNvPr id="29" name="Feature 5"/>
          <p:cNvSpPr/>
          <p:nvPr/>
        </p:nvSpPr>
        <p:spPr>
          <a:xfrm>
            <a:off x="3200400" y="30175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3383280" y="3200400"/>
            <a:ext cx="384048" cy="384048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37560" y="3703320"/>
            <a:ext cx="1920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Direct messaging</a:t>
            </a:r>
          </a:p>
        </p:txBody>
      </p:sp>
      <p:sp>
        <p:nvSpPr>
          <p:cNvPr id="32" name="Feature 6"/>
          <p:cNvSpPr/>
          <p:nvPr/>
        </p:nvSpPr>
        <p:spPr>
          <a:xfrm>
            <a:off x="5577840" y="301752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760720" y="3200400"/>
            <a:ext cx="384048" cy="384048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15000" y="3703320"/>
            <a:ext cx="1920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Favorites &amp; Recent</a:t>
            </a:r>
          </a:p>
        </p:txBody>
      </p:sp>
      <p:sp>
        <p:nvSpPr>
          <p:cNvPr id="35" name="Feature 7"/>
          <p:cNvSpPr/>
          <p:nvPr/>
        </p:nvSpPr>
        <p:spPr>
          <a:xfrm>
            <a:off x="822960" y="466344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05840" y="4846320"/>
            <a:ext cx="384048" cy="384048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" y="5349240"/>
            <a:ext cx="1920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Post/forum query bar</a:t>
            </a:r>
          </a:p>
        </p:txBody>
      </p:sp>
      <p:sp>
        <p:nvSpPr>
          <p:cNvPr id="38" name="Feature 8"/>
          <p:cNvSpPr/>
          <p:nvPr/>
        </p:nvSpPr>
        <p:spPr>
          <a:xfrm>
            <a:off x="3200400" y="466344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3383280" y="4846320"/>
            <a:ext cx="384048" cy="384048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5349240"/>
            <a:ext cx="1920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Explore page</a:t>
            </a:r>
          </a:p>
        </p:txBody>
      </p:sp>
      <p:sp>
        <p:nvSpPr>
          <p:cNvPr id="41" name="Feature 9"/>
          <p:cNvSpPr/>
          <p:nvPr/>
        </p:nvSpPr>
        <p:spPr>
          <a:xfrm>
            <a:off x="5577840" y="4663440"/>
            <a:ext cx="2194560" cy="14630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5760720" y="4846320"/>
            <a:ext cx="384048" cy="384048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15000" y="5349240"/>
            <a:ext cx="192024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Business ad accounts</a:t>
            </a:r>
          </a:p>
        </p:txBody>
      </p:sp>
    </p:spTree>
    <p:extLst>
      <p:ext uri="{BB962C8B-B14F-4D97-AF65-F5344CB8AC3E}">
        <p14:creationId xmlns:p14="http://schemas.microsoft.com/office/powerpoint/2010/main" val="1154766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924F4-49E8-9999-10C6-F5680BDB3BB3}"/>
              </a:ext>
            </a:extLst>
          </p:cNvPr>
          <p:cNvSpPr txBox="1"/>
          <p:nvPr/>
        </p:nvSpPr>
        <p:spPr>
          <a:xfrm>
            <a:off x="158493" y="106990"/>
            <a:ext cx="112471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Key User Stories</a:t>
            </a:r>
          </a:p>
        </p:txBody>
      </p:sp>
      <p:sp>
        <p:nvSpPr>
          <p:cNvPr id="3" name="Story 1"/>
          <p:cNvSpPr/>
          <p:nvPr/>
        </p:nvSpPr>
        <p:spPr>
          <a:xfrm>
            <a:off x="822960" y="105156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05840" y="1307592"/>
            <a:ext cx="457200" cy="45720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E2733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115568"/>
            <a:ext cx="95097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8FE8A8"/>
                </a:solidFill>
              </a:rPr>
              <a:t>Post-to-Forum Spinoff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417319"/>
            <a:ext cx="9509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As a user, I want a post to spin off into its own forum once it gains traction, so people with similar interests can interact with it.</a:t>
            </a:r>
          </a:p>
        </p:txBody>
      </p:sp>
      <p:sp>
        <p:nvSpPr>
          <p:cNvPr id="7" name="Story 2"/>
          <p:cNvSpPr/>
          <p:nvPr/>
        </p:nvSpPr>
        <p:spPr>
          <a:xfrm>
            <a:off x="822960" y="2148839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05840" y="2404872"/>
            <a:ext cx="457200" cy="45720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E2733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212847"/>
            <a:ext cx="95097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8FE8A8"/>
                </a:solidFill>
              </a:rPr>
              <a:t>Personalized Feed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514599"/>
            <a:ext cx="9509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As a user, I want a feed based on my interests and friends, so I stay connected with people I know while discovering new communities.</a:t>
            </a:r>
          </a:p>
        </p:txBody>
      </p:sp>
      <p:sp>
        <p:nvSpPr>
          <p:cNvPr id="11" name="Story 3"/>
          <p:cNvSpPr/>
          <p:nvPr/>
        </p:nvSpPr>
        <p:spPr>
          <a:xfrm>
            <a:off x="822960" y="324612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05840" y="3502152"/>
            <a:ext cx="457200" cy="45720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E2733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310127"/>
            <a:ext cx="95097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8FE8A8"/>
                </a:solidFill>
              </a:rPr>
              <a:t>Moderation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3611879"/>
            <a:ext cx="9509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As a forum moderator, I want to review reports, mute or ban disruptive users, and manage forum settings, so my community stays safe and on-topic.</a:t>
            </a:r>
          </a:p>
        </p:txBody>
      </p:sp>
      <p:sp>
        <p:nvSpPr>
          <p:cNvPr id="15" name="Story 4"/>
          <p:cNvSpPr/>
          <p:nvPr/>
        </p:nvSpPr>
        <p:spPr>
          <a:xfrm>
            <a:off x="822960" y="4343400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05840" y="4599432"/>
            <a:ext cx="457200" cy="45720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E2733"/>
                </a:solidFill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407408"/>
            <a:ext cx="95097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8FE8A8"/>
                </a:solidFill>
              </a:rPr>
              <a:t>Promoted Posts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4709160"/>
            <a:ext cx="9509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As a business user, I want to run promoted product posts in relevant tech and gaming forums, so our products reach likely buyers.</a:t>
            </a:r>
          </a:p>
        </p:txBody>
      </p:sp>
      <p:sp>
        <p:nvSpPr>
          <p:cNvPr id="19" name="Story 5"/>
          <p:cNvSpPr/>
          <p:nvPr/>
        </p:nvSpPr>
        <p:spPr>
          <a:xfrm>
            <a:off x="822960" y="5440679"/>
            <a:ext cx="10515600" cy="96012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05840" y="5696712"/>
            <a:ext cx="457200" cy="45720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600" b="1">
                <a:solidFill>
                  <a:srgbClr val="1E2733"/>
                </a:solidFill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504688"/>
            <a:ext cx="950976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8FE8A8"/>
                </a:solidFill>
              </a:rPr>
              <a:t>Kids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5806440"/>
            <a:ext cx="9509760" cy="56692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As a user, I want to restrict access time and communities for underage users, so parents can limit access as necessary.</a:t>
            </a:r>
          </a:p>
        </p:txBody>
      </p:sp>
    </p:spTree>
    <p:extLst>
      <p:ext uri="{BB962C8B-B14F-4D97-AF65-F5344CB8AC3E}">
        <p14:creationId xmlns:p14="http://schemas.microsoft.com/office/powerpoint/2010/main" val="3550155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924F4-49E8-9999-10C6-F5680BDB3BB3}"/>
              </a:ext>
            </a:extLst>
          </p:cNvPr>
          <p:cNvSpPr txBox="1"/>
          <p:nvPr/>
        </p:nvSpPr>
        <p:spPr>
          <a:xfrm>
            <a:off x="158493" y="106990"/>
            <a:ext cx="112471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Use Case: Post-to-Forum (UC-35)</a:t>
            </a:r>
          </a:p>
        </p:txBody>
      </p:sp>
      <p:sp>
        <p:nvSpPr>
          <p:cNvPr id="3" name="Step 1"/>
          <p:cNvSpPr/>
          <p:nvPr/>
        </p:nvSpPr>
        <p:spPr>
          <a:xfrm>
            <a:off x="822960" y="1325880"/>
            <a:ext cx="164592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947672"/>
            <a:ext cx="1499616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User triggers post-to-forum</a:t>
            </a:r>
          </a:p>
        </p:txBody>
      </p:sp>
      <p:sp>
        <p:nvSpPr>
          <p:cNvPr id="6" name="Step 2"/>
          <p:cNvSpPr/>
          <p:nvPr/>
        </p:nvSpPr>
        <p:spPr>
          <a:xfrm>
            <a:off x="2596896" y="1325880"/>
            <a:ext cx="164592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706624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70048" y="1947672"/>
            <a:ext cx="1499616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System checks conversion criteria</a:t>
            </a:r>
          </a:p>
        </p:txBody>
      </p:sp>
      <p:sp>
        <p:nvSpPr>
          <p:cNvPr id="9" name="Step 3"/>
          <p:cNvSpPr/>
          <p:nvPr/>
        </p:nvSpPr>
        <p:spPr>
          <a:xfrm>
            <a:off x="4370832" y="1325880"/>
            <a:ext cx="164592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480560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1947672"/>
            <a:ext cx="1499616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New forum created from the post's title, tags, category</a:t>
            </a:r>
          </a:p>
        </p:txBody>
      </p:sp>
      <p:sp>
        <p:nvSpPr>
          <p:cNvPr id="12" name="Step 4"/>
          <p:cNvSpPr/>
          <p:nvPr/>
        </p:nvSpPr>
        <p:spPr>
          <a:xfrm>
            <a:off x="6144768" y="1325880"/>
            <a:ext cx="164592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254496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947672"/>
            <a:ext cx="1499616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Original post becomes the pinned head thread</a:t>
            </a:r>
          </a:p>
        </p:txBody>
      </p:sp>
      <p:sp>
        <p:nvSpPr>
          <p:cNvPr id="15" name="Step 5"/>
          <p:cNvSpPr/>
          <p:nvPr/>
        </p:nvSpPr>
        <p:spPr>
          <a:xfrm>
            <a:off x="7918704" y="1325880"/>
            <a:ext cx="164592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028431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91856" y="1947672"/>
            <a:ext cx="1499616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Replies move into nested threads by topic</a:t>
            </a:r>
          </a:p>
        </p:txBody>
      </p:sp>
      <p:sp>
        <p:nvSpPr>
          <p:cNvPr id="18" name="Step 6"/>
          <p:cNvSpPr/>
          <p:nvPr/>
        </p:nvSpPr>
        <p:spPr>
          <a:xfrm>
            <a:off x="9692640" y="1325880"/>
            <a:ext cx="164592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802367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65792" y="1947672"/>
            <a:ext cx="1499616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User lands on the new forum with a confirmation</a:t>
            </a:r>
          </a:p>
        </p:txBody>
      </p:sp>
      <p:sp>
        <p:nvSpPr>
          <p:cNvPr id="21" name="Info left"/>
          <p:cNvSpPr/>
          <p:nvPr/>
        </p:nvSpPr>
        <p:spPr>
          <a:xfrm>
            <a:off x="822960" y="365760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Info right"/>
          <p:cNvSpPr/>
          <p:nvPr/>
        </p:nvSpPr>
        <p:spPr>
          <a:xfrm>
            <a:off x="6217920" y="365760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3767328"/>
            <a:ext cx="47548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8FE8A8"/>
                </a:solidFill>
              </a:rPr>
              <a:t>Setup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87952"/>
            <a:ext cx="475488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Actor: </a:t>
            </a:r>
            <a:r>
              <a:rPr sz="1400" b="0">
                <a:solidFill>
                  <a:srgbClr val="FFFFFF"/>
                </a:solidFill>
              </a:rPr>
              <a:t>User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Trigger: </a:t>
            </a:r>
            <a:r>
              <a:rPr sz="1400" b="0">
                <a:solidFill>
                  <a:srgbClr val="FFFFFF"/>
                </a:solidFill>
              </a:rPr>
              <a:t>'Elevate to Forum' button, or automatic progression rules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Precondition: </a:t>
            </a:r>
            <a:r>
              <a:rPr sz="1400" b="0">
                <a:solidFill>
                  <a:srgbClr val="FFFFFF"/>
                </a:solidFill>
              </a:rPr>
              <a:t>Logged in, with an active published post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767328"/>
            <a:ext cx="47548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8FE8A8"/>
                </a:solidFill>
              </a:rPr>
              <a:t>If something goes wrong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87952"/>
            <a:ext cx="475488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2a: </a:t>
            </a:r>
            <a:r>
              <a:rPr sz="1400" b="0">
                <a:solidFill>
                  <a:srgbClr val="FFFFFF"/>
                </a:solidFill>
              </a:rPr>
              <a:t>Post doesn't meet criteria, so the user is told what's missing and the use case ends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3a: </a:t>
            </a:r>
            <a:r>
              <a:rPr sz="1400" b="0">
                <a:solidFill>
                  <a:srgbClr val="FFFFFF"/>
                </a:solidFill>
              </a:rPr>
              <a:t>Forum name already taken, so the system adds a numeric suffix to the URL</a:t>
            </a:r>
          </a:p>
        </p:txBody>
      </p:sp>
    </p:spTree>
    <p:extLst>
      <p:ext uri="{BB962C8B-B14F-4D97-AF65-F5344CB8AC3E}">
        <p14:creationId xmlns:p14="http://schemas.microsoft.com/office/powerpoint/2010/main" val="3550155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924F4-49E8-9999-10C6-F5680BDB3BB3}"/>
              </a:ext>
            </a:extLst>
          </p:cNvPr>
          <p:cNvSpPr txBox="1"/>
          <p:nvPr/>
        </p:nvSpPr>
        <p:spPr>
          <a:xfrm>
            <a:off x="158493" y="106990"/>
            <a:ext cx="112471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Use Case: Run a Promoted Product Post (UC-24)</a:t>
            </a:r>
          </a:p>
        </p:txBody>
      </p:sp>
      <p:sp>
        <p:nvSpPr>
          <p:cNvPr id="3" name="Step 1"/>
          <p:cNvSpPr/>
          <p:nvPr/>
        </p:nvSpPr>
        <p:spPr>
          <a:xfrm>
            <a:off x="822960" y="1325880"/>
            <a:ext cx="1408175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32688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947672"/>
            <a:ext cx="1261872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Select a product post and choose 'Promote'</a:t>
            </a:r>
          </a:p>
        </p:txBody>
      </p:sp>
      <p:sp>
        <p:nvSpPr>
          <p:cNvPr id="6" name="Step 2"/>
          <p:cNvSpPr/>
          <p:nvPr/>
        </p:nvSpPr>
        <p:spPr>
          <a:xfrm>
            <a:off x="2340863" y="1325880"/>
            <a:ext cx="1408175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450591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14015" y="1947672"/>
            <a:ext cx="1261872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Pick target forums and categories</a:t>
            </a:r>
          </a:p>
        </p:txBody>
      </p:sp>
      <p:sp>
        <p:nvSpPr>
          <p:cNvPr id="9" name="Step 3"/>
          <p:cNvSpPr/>
          <p:nvPr/>
        </p:nvSpPr>
        <p:spPr>
          <a:xfrm>
            <a:off x="3858768" y="1325880"/>
            <a:ext cx="1408175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968496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47672"/>
            <a:ext cx="1261872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Set budget and duration</a:t>
            </a:r>
          </a:p>
        </p:txBody>
      </p:sp>
      <p:sp>
        <p:nvSpPr>
          <p:cNvPr id="12" name="Step 4"/>
          <p:cNvSpPr/>
          <p:nvPr/>
        </p:nvSpPr>
        <p:spPr>
          <a:xfrm>
            <a:off x="5376671" y="1325880"/>
            <a:ext cx="1408175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86399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9823" y="1947672"/>
            <a:ext cx="1261872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System processes payment</a:t>
            </a:r>
          </a:p>
        </p:txBody>
      </p:sp>
      <p:sp>
        <p:nvSpPr>
          <p:cNvPr id="15" name="Step 5"/>
          <p:cNvSpPr/>
          <p:nvPr/>
        </p:nvSpPr>
        <p:spPr>
          <a:xfrm>
            <a:off x="6894575" y="1325880"/>
            <a:ext cx="1408175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04303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7" y="1947672"/>
            <a:ext cx="1261872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System reviews post against ad policy</a:t>
            </a:r>
          </a:p>
        </p:txBody>
      </p:sp>
      <p:sp>
        <p:nvSpPr>
          <p:cNvPr id="18" name="Step 6"/>
          <p:cNvSpPr/>
          <p:nvPr/>
        </p:nvSpPr>
        <p:spPr>
          <a:xfrm>
            <a:off x="8412480" y="1325880"/>
            <a:ext cx="1408175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22207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1947672"/>
            <a:ext cx="1261872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Post shown in forums, labeled as sponsored</a:t>
            </a:r>
          </a:p>
        </p:txBody>
      </p:sp>
      <p:sp>
        <p:nvSpPr>
          <p:cNvPr id="21" name="Step 7"/>
          <p:cNvSpPr/>
          <p:nvPr/>
        </p:nvSpPr>
        <p:spPr>
          <a:xfrm>
            <a:off x="9930383" y="1325880"/>
            <a:ext cx="1408175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0040111" y="1463039"/>
            <a:ext cx="365760" cy="365760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400" b="1">
                <a:solidFill>
                  <a:srgbClr val="1E2733"/>
                </a:solidFill>
              </a:rP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3535" y="1947672"/>
            <a:ext cx="1261872" cy="13258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View reach and engagement metrics</a:t>
            </a:r>
          </a:p>
        </p:txBody>
      </p:sp>
      <p:sp>
        <p:nvSpPr>
          <p:cNvPr id="24" name="Info left"/>
          <p:cNvSpPr/>
          <p:nvPr/>
        </p:nvSpPr>
        <p:spPr>
          <a:xfrm>
            <a:off x="822960" y="365760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Info right"/>
          <p:cNvSpPr/>
          <p:nvPr/>
        </p:nvSpPr>
        <p:spPr>
          <a:xfrm>
            <a:off x="6217920" y="3657600"/>
            <a:ext cx="5120640" cy="233172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3767328"/>
            <a:ext cx="47548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8FE8A8"/>
                </a:solidFill>
              </a:rPr>
              <a:t>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187952"/>
            <a:ext cx="475488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Actor: </a:t>
            </a:r>
            <a:r>
              <a:rPr sz="1400" b="0">
                <a:solidFill>
                  <a:srgbClr val="FFFFFF"/>
                </a:solidFill>
              </a:rPr>
              <a:t>Business user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Goal: </a:t>
            </a:r>
            <a:r>
              <a:rPr sz="1400" b="0">
                <a:solidFill>
                  <a:srgbClr val="FFFFFF"/>
                </a:solidFill>
              </a:rPr>
              <a:t>Reach users likely to buy, in relevant tech and gaming forums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Rule: </a:t>
            </a:r>
            <a:r>
              <a:rPr sz="1400" b="0">
                <a:solidFill>
                  <a:srgbClr val="FFFFFF"/>
                </a:solidFill>
              </a:rPr>
              <a:t>Promoted posts must be clearly labeled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767328"/>
            <a:ext cx="47548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>
                <a:solidFill>
                  <a:srgbClr val="8FE8A8"/>
                </a:solidFill>
              </a:rPr>
              <a:t>If something goes wrong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187952"/>
            <a:ext cx="475488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4a: </a:t>
            </a:r>
            <a:r>
              <a:rPr sz="1400" b="0">
                <a:solidFill>
                  <a:srgbClr val="FFFFFF"/>
                </a:solidFill>
              </a:rPr>
              <a:t>Payment fails, so the user is notified and the promotion doesn't start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</a:rPr>
              <a:t>5a: </a:t>
            </a:r>
            <a:r>
              <a:rPr sz="1400" b="0">
                <a:solidFill>
                  <a:srgbClr val="FFFFFF"/>
                </a:solidFill>
              </a:rPr>
              <a:t>Post violates ad policy, so the request is rejected</a:t>
            </a:r>
          </a:p>
        </p:txBody>
      </p:sp>
    </p:spTree>
    <p:extLst>
      <p:ext uri="{BB962C8B-B14F-4D97-AF65-F5344CB8AC3E}">
        <p14:creationId xmlns:p14="http://schemas.microsoft.com/office/powerpoint/2010/main" val="3550155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924F4-49E8-9999-10C6-F5680BDB3BB3}"/>
              </a:ext>
            </a:extLst>
          </p:cNvPr>
          <p:cNvSpPr txBox="1"/>
          <p:nvPr/>
        </p:nvSpPr>
        <p:spPr>
          <a:xfrm>
            <a:off x="158493" y="106990"/>
            <a:ext cx="112471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Entity Relationship Diagram</a:t>
            </a:r>
          </a:p>
        </p:txBody>
      </p:sp>
      <p:pic>
        <p:nvPicPr>
          <p:cNvPr id="3" name="ERD" descr="Plant_-_FINAL_-_ER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05840"/>
            <a:ext cx="7968175" cy="5440680"/>
          </a:xfrm>
          <a:prstGeom prst="rect">
            <a:avLst/>
          </a:prstGeom>
        </p:spPr>
      </p:pic>
      <p:sp>
        <p:nvSpPr>
          <p:cNvPr id="4" name="Group Identity"/>
          <p:cNvSpPr/>
          <p:nvPr/>
        </p:nvSpPr>
        <p:spPr>
          <a:xfrm>
            <a:off x="8791135" y="1005840"/>
            <a:ext cx="2986336" cy="12344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928295" y="1170432"/>
            <a:ext cx="201168" cy="201168"/>
          </a:xfrm>
          <a:prstGeom prst="ellipse">
            <a:avLst/>
          </a:prstGeom>
          <a:solidFill>
            <a:srgbClr val="1B8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202615" y="1097280"/>
            <a:ext cx="2483416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Identity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28295" y="1481328"/>
            <a:ext cx="2712016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E7E6E6"/>
                </a:solidFill>
              </a:rPr>
              <a:t>User, User Preference, Friends</a:t>
            </a:r>
          </a:p>
        </p:txBody>
      </p:sp>
      <p:sp>
        <p:nvSpPr>
          <p:cNvPr id="8" name="Group Interests"/>
          <p:cNvSpPr/>
          <p:nvPr/>
        </p:nvSpPr>
        <p:spPr>
          <a:xfrm>
            <a:off x="8791135" y="2377440"/>
            <a:ext cx="2986336" cy="12344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928295" y="2542032"/>
            <a:ext cx="201168" cy="201168"/>
          </a:xfrm>
          <a:prstGeom prst="ellipse">
            <a:avLst/>
          </a:prstGeom>
          <a:solidFill>
            <a:srgbClr val="9B86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202615" y="2468880"/>
            <a:ext cx="2483416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Interests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28295" y="2852928"/>
            <a:ext cx="2712016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E7E6E6"/>
                </a:solidFill>
              </a:rPr>
              <a:t>Category, User Interests, Category Activity</a:t>
            </a:r>
          </a:p>
        </p:txBody>
      </p:sp>
      <p:sp>
        <p:nvSpPr>
          <p:cNvPr id="12" name="Group Content"/>
          <p:cNvSpPr/>
          <p:nvPr/>
        </p:nvSpPr>
        <p:spPr>
          <a:xfrm>
            <a:off x="8791135" y="3749039"/>
            <a:ext cx="2986336" cy="12344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928295" y="3913631"/>
            <a:ext cx="201168" cy="201168"/>
          </a:xfrm>
          <a:prstGeom prst="ellipse">
            <a:avLst/>
          </a:prstGeom>
          <a:solidFill>
            <a:srgbClr val="D9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202615" y="3840479"/>
            <a:ext cx="2483416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Content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28295" y="4224527"/>
            <a:ext cx="2712016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E7E6E6"/>
                </a:solidFill>
              </a:rPr>
              <a:t>Posts, Comments, Favorites, Likes, Reactions</a:t>
            </a:r>
          </a:p>
        </p:txBody>
      </p:sp>
      <p:sp>
        <p:nvSpPr>
          <p:cNvPr id="16" name="Group Messaging"/>
          <p:cNvSpPr/>
          <p:nvPr/>
        </p:nvSpPr>
        <p:spPr>
          <a:xfrm>
            <a:off x="8791135" y="5120640"/>
            <a:ext cx="2986336" cy="123444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928295" y="5285231"/>
            <a:ext cx="201168" cy="201168"/>
          </a:xfrm>
          <a:prstGeom prst="ellipse">
            <a:avLst/>
          </a:prstGeom>
          <a:solidFill>
            <a:srgbClr val="00B1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202615" y="5212079"/>
            <a:ext cx="2483416" cy="34747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Messaging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28295" y="5596127"/>
            <a:ext cx="2712016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>
                <a:solidFill>
                  <a:srgbClr val="E7E6E6"/>
                </a:solidFill>
              </a:rPr>
              <a:t>Chat, Chat Buffer, Message, Message Reaction</a:t>
            </a:r>
          </a:p>
        </p:txBody>
      </p:sp>
    </p:spTree>
    <p:extLst>
      <p:ext uri="{BB962C8B-B14F-4D97-AF65-F5344CB8AC3E}">
        <p14:creationId xmlns:p14="http://schemas.microsoft.com/office/powerpoint/2010/main" val="35501552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6EF5A53-0A64-4CA5-B9C7-1CB97CB5C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7843" y="6244836"/>
            <a:ext cx="4034156" cy="613164"/>
          </a:xfrm>
          <a:custGeom>
            <a:avLst/>
            <a:gdLst>
              <a:gd name="connsiteX0" fmla="*/ 1479137 w 4034156"/>
              <a:gd name="connsiteY0" fmla="*/ 230 h 613164"/>
              <a:gd name="connsiteX1" fmla="*/ 3482844 w 4034156"/>
              <a:gd name="connsiteY1" fmla="*/ 298555 h 613164"/>
              <a:gd name="connsiteX2" fmla="*/ 3831590 w 4034156"/>
              <a:gd name="connsiteY2" fmla="*/ 425010 h 613164"/>
              <a:gd name="connsiteX3" fmla="*/ 4034156 w 4034156"/>
              <a:gd name="connsiteY3" fmla="*/ 494088 h 613164"/>
              <a:gd name="connsiteX4" fmla="*/ 4034156 w 4034156"/>
              <a:gd name="connsiteY4" fmla="*/ 613164 h 613164"/>
              <a:gd name="connsiteX5" fmla="*/ 0 w 4034156"/>
              <a:gd name="connsiteY5" fmla="*/ 613164 h 613164"/>
              <a:gd name="connsiteX6" fmla="*/ 54792 w 4034156"/>
              <a:gd name="connsiteY6" fmla="*/ 512415 h 613164"/>
              <a:gd name="connsiteX7" fmla="*/ 168327 w 4034156"/>
              <a:gd name="connsiteY7" fmla="*/ 366637 h 613164"/>
              <a:gd name="connsiteX8" fmla="*/ 1192562 w 4034156"/>
              <a:gd name="connsiteY8" fmla="*/ 1522 h 613164"/>
              <a:gd name="connsiteX9" fmla="*/ 1479137 w 4034156"/>
              <a:gd name="connsiteY9" fmla="*/ 230 h 613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034156" h="613164">
                <a:moveTo>
                  <a:pt x="1479137" y="230"/>
                </a:moveTo>
                <a:cubicBezTo>
                  <a:pt x="2152575" y="4287"/>
                  <a:pt x="2854487" y="63583"/>
                  <a:pt x="3482844" y="298555"/>
                </a:cubicBezTo>
                <a:cubicBezTo>
                  <a:pt x="3599338" y="342114"/>
                  <a:pt x="3715540" y="384216"/>
                  <a:pt x="3831590" y="425010"/>
                </a:cubicBezTo>
                <a:lnTo>
                  <a:pt x="4034156" y="494088"/>
                </a:lnTo>
                <a:lnTo>
                  <a:pt x="4034156" y="613164"/>
                </a:lnTo>
                <a:lnTo>
                  <a:pt x="0" y="613164"/>
                </a:lnTo>
                <a:lnTo>
                  <a:pt x="54792" y="512415"/>
                </a:lnTo>
                <a:cubicBezTo>
                  <a:pt x="88888" y="459433"/>
                  <a:pt x="126502" y="410480"/>
                  <a:pt x="168327" y="366637"/>
                </a:cubicBezTo>
                <a:cubicBezTo>
                  <a:pt x="428292" y="94062"/>
                  <a:pt x="821899" y="6565"/>
                  <a:pt x="1192562" y="1522"/>
                </a:cubicBezTo>
                <a:cubicBezTo>
                  <a:pt x="1287308" y="198"/>
                  <a:pt x="1382932" y="-349"/>
                  <a:pt x="1479137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 panose="020B0504020202020204" pitchFamily="34" charset="0"/>
              <a:ea typeface="+mn-ea"/>
              <a:cs typeface="+mn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4ABFBEA-4EB0-4D02-A2C0-1733CD3D6F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88126"/>
            <a:ext cx="448491" cy="1634252"/>
          </a:xfrm>
          <a:custGeom>
            <a:avLst/>
            <a:gdLst>
              <a:gd name="connsiteX0" fmla="*/ 0 w 448491"/>
              <a:gd name="connsiteY0" fmla="*/ 0 h 1634252"/>
              <a:gd name="connsiteX1" fmla="*/ 12983 w 448491"/>
              <a:gd name="connsiteY1" fmla="*/ 10508 h 1634252"/>
              <a:gd name="connsiteX2" fmla="*/ 441611 w 448491"/>
              <a:gd name="connsiteY2" fmla="*/ 863751 h 1634252"/>
              <a:gd name="connsiteX3" fmla="*/ 251011 w 448491"/>
              <a:gd name="connsiteY3" fmla="*/ 1302895 h 1634252"/>
              <a:gd name="connsiteX4" fmla="*/ 74605 w 448491"/>
              <a:gd name="connsiteY4" fmla="*/ 1543249 h 1634252"/>
              <a:gd name="connsiteX5" fmla="*/ 0 w 448491"/>
              <a:gd name="connsiteY5" fmla="*/ 1634252 h 1634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8491" h="1634252">
                <a:moveTo>
                  <a:pt x="0" y="0"/>
                </a:moveTo>
                <a:lnTo>
                  <a:pt x="12983" y="10508"/>
                </a:lnTo>
                <a:cubicBezTo>
                  <a:pt x="278410" y="241022"/>
                  <a:pt x="489787" y="530267"/>
                  <a:pt x="441611" y="863751"/>
                </a:cubicBezTo>
                <a:cubicBezTo>
                  <a:pt x="418542" y="1022632"/>
                  <a:pt x="337007" y="1166302"/>
                  <a:pt x="251011" y="1302895"/>
                </a:cubicBezTo>
                <a:cubicBezTo>
                  <a:pt x="215138" y="1359902"/>
                  <a:pt x="154723" y="1442480"/>
                  <a:pt x="74605" y="1543249"/>
                </a:cubicBezTo>
                <a:lnTo>
                  <a:pt x="0" y="1634252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900">
              <a:solidFill>
                <a:prstClr val="white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9E083F6-57F4-487B-A766-EA0462B1E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09459" y="6144069"/>
            <a:ext cx="4418271" cy="718159"/>
          </a:xfrm>
          <a:custGeom>
            <a:avLst/>
            <a:gdLst>
              <a:gd name="connsiteX0" fmla="*/ 1421452 w 4590626"/>
              <a:gd name="connsiteY0" fmla="*/ 0 h 713930"/>
              <a:gd name="connsiteX1" fmla="*/ 3247781 w 4590626"/>
              <a:gd name="connsiteY1" fmla="*/ 271915 h 713930"/>
              <a:gd name="connsiteX2" fmla="*/ 4517331 w 4590626"/>
              <a:gd name="connsiteY2" fmla="*/ 693394 h 713930"/>
              <a:gd name="connsiteX3" fmla="*/ 4590626 w 4590626"/>
              <a:gd name="connsiteY3" fmla="*/ 713930 h 713930"/>
              <a:gd name="connsiteX4" fmla="*/ 0 w 4590626"/>
              <a:gd name="connsiteY4" fmla="*/ 713930 h 713930"/>
              <a:gd name="connsiteX5" fmla="*/ 2854 w 4590626"/>
              <a:gd name="connsiteY5" fmla="*/ 705624 h 713930"/>
              <a:gd name="connsiteX6" fmla="*/ 226680 w 4590626"/>
              <a:gd name="connsiteY6" fmla="*/ 333970 h 713930"/>
              <a:gd name="connsiteX7" fmla="*/ 1160245 w 4590626"/>
              <a:gd name="connsiteY7" fmla="*/ 1178 h 713930"/>
              <a:gd name="connsiteX8" fmla="*/ 1421452 w 4590626"/>
              <a:gd name="connsiteY8" fmla="*/ 0 h 713930"/>
              <a:gd name="connsiteX0" fmla="*/ 1421452 w 4517331"/>
              <a:gd name="connsiteY0" fmla="*/ 0 h 713930"/>
              <a:gd name="connsiteX1" fmla="*/ 3247781 w 4517331"/>
              <a:gd name="connsiteY1" fmla="*/ 271915 h 713930"/>
              <a:gd name="connsiteX2" fmla="*/ 4517331 w 4517331"/>
              <a:gd name="connsiteY2" fmla="*/ 693394 h 713930"/>
              <a:gd name="connsiteX3" fmla="*/ 0 w 4517331"/>
              <a:gd name="connsiteY3" fmla="*/ 713930 h 713930"/>
              <a:gd name="connsiteX4" fmla="*/ 2854 w 4517331"/>
              <a:gd name="connsiteY4" fmla="*/ 705624 h 713930"/>
              <a:gd name="connsiteX5" fmla="*/ 226680 w 4517331"/>
              <a:gd name="connsiteY5" fmla="*/ 333970 h 713930"/>
              <a:gd name="connsiteX6" fmla="*/ 1160245 w 4517331"/>
              <a:gd name="connsiteY6" fmla="*/ 1178 h 713930"/>
              <a:gd name="connsiteX7" fmla="*/ 1421452 w 4517331"/>
              <a:gd name="connsiteY7" fmla="*/ 0 h 713930"/>
              <a:gd name="connsiteX0" fmla="*/ 0 w 4608771"/>
              <a:gd name="connsiteY0" fmla="*/ 713930 h 784834"/>
              <a:gd name="connsiteX1" fmla="*/ 2854 w 4608771"/>
              <a:gd name="connsiteY1" fmla="*/ 705624 h 784834"/>
              <a:gd name="connsiteX2" fmla="*/ 226680 w 4608771"/>
              <a:gd name="connsiteY2" fmla="*/ 333970 h 784834"/>
              <a:gd name="connsiteX3" fmla="*/ 1160245 w 4608771"/>
              <a:gd name="connsiteY3" fmla="*/ 1178 h 784834"/>
              <a:gd name="connsiteX4" fmla="*/ 1421452 w 4608771"/>
              <a:gd name="connsiteY4" fmla="*/ 0 h 784834"/>
              <a:gd name="connsiteX5" fmla="*/ 3247781 w 4608771"/>
              <a:gd name="connsiteY5" fmla="*/ 271915 h 784834"/>
              <a:gd name="connsiteX6" fmla="*/ 4608771 w 4608771"/>
              <a:gd name="connsiteY6" fmla="*/ 784834 h 784834"/>
              <a:gd name="connsiteX0" fmla="*/ 0 w 4418271"/>
              <a:gd name="connsiteY0" fmla="*/ 713930 h 718159"/>
              <a:gd name="connsiteX1" fmla="*/ 2854 w 4418271"/>
              <a:gd name="connsiteY1" fmla="*/ 705624 h 718159"/>
              <a:gd name="connsiteX2" fmla="*/ 226680 w 4418271"/>
              <a:gd name="connsiteY2" fmla="*/ 333970 h 718159"/>
              <a:gd name="connsiteX3" fmla="*/ 1160245 w 4418271"/>
              <a:gd name="connsiteY3" fmla="*/ 1178 h 718159"/>
              <a:gd name="connsiteX4" fmla="*/ 1421452 w 4418271"/>
              <a:gd name="connsiteY4" fmla="*/ 0 h 718159"/>
              <a:gd name="connsiteX5" fmla="*/ 3247781 w 4418271"/>
              <a:gd name="connsiteY5" fmla="*/ 271915 h 718159"/>
              <a:gd name="connsiteX6" fmla="*/ 4418271 w 4418271"/>
              <a:gd name="connsiteY6" fmla="*/ 718159 h 7181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18271" h="718159">
                <a:moveTo>
                  <a:pt x="0" y="713930"/>
                </a:moveTo>
                <a:lnTo>
                  <a:pt x="2854" y="705624"/>
                </a:lnTo>
                <a:cubicBezTo>
                  <a:pt x="60059" y="562888"/>
                  <a:pt x="131373" y="433874"/>
                  <a:pt x="226680" y="333970"/>
                </a:cubicBezTo>
                <a:cubicBezTo>
                  <a:pt x="463632" y="85526"/>
                  <a:pt x="822395" y="5774"/>
                  <a:pt x="1160245" y="1178"/>
                </a:cubicBezTo>
                <a:lnTo>
                  <a:pt x="1421452" y="0"/>
                </a:lnTo>
                <a:cubicBezTo>
                  <a:pt x="2035274" y="3698"/>
                  <a:pt x="2748311" y="152222"/>
                  <a:pt x="3247781" y="271915"/>
                </a:cubicBezTo>
                <a:cubicBezTo>
                  <a:pt x="3747251" y="391608"/>
                  <a:pt x="3902480" y="501606"/>
                  <a:pt x="4418271" y="718159"/>
                </a:cubicBezTo>
              </a:path>
            </a:pathLst>
          </a:cu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A18C9FB-EC4C-4DAE-8F7D-C6E5AF607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0572931-961B-4A48-8B38-E9A9DB6E8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15181" y="-615181"/>
            <a:ext cx="1085312" cy="2315675"/>
          </a:xfrm>
          <a:custGeom>
            <a:avLst/>
            <a:gdLst>
              <a:gd name="connsiteX0" fmla="*/ 0 w 1085312"/>
              <a:gd name="connsiteY0" fmla="*/ 2315675 h 2315675"/>
              <a:gd name="connsiteX1" fmla="*/ 0 w 1085312"/>
              <a:gd name="connsiteY1" fmla="*/ 0 h 2315675"/>
              <a:gd name="connsiteX2" fmla="*/ 53089 w 1085312"/>
              <a:gd name="connsiteY2" fmla="*/ 4542 h 2315675"/>
              <a:gd name="connsiteX3" fmla="*/ 790077 w 1085312"/>
              <a:gd name="connsiteY3" fmla="*/ 872756 h 2315675"/>
              <a:gd name="connsiteX4" fmla="*/ 1085252 w 1085312"/>
              <a:gd name="connsiteY4" fmla="*/ 1943649 h 2315675"/>
              <a:gd name="connsiteX5" fmla="*/ 1064832 w 1085312"/>
              <a:gd name="connsiteY5" fmla="*/ 2198094 h 2315675"/>
              <a:gd name="connsiteX6" fmla="*/ 1043734 w 1085312"/>
              <a:gd name="connsiteY6" fmla="*/ 2315675 h 2315675"/>
              <a:gd name="connsiteX7" fmla="*/ 0 w 1085312"/>
              <a:gd name="connsiteY7" fmla="*/ 2315675 h 2315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85312" h="2315675">
                <a:moveTo>
                  <a:pt x="0" y="2315675"/>
                </a:moveTo>
                <a:lnTo>
                  <a:pt x="0" y="0"/>
                </a:lnTo>
                <a:lnTo>
                  <a:pt x="53089" y="4542"/>
                </a:lnTo>
                <a:cubicBezTo>
                  <a:pt x="405263" y="73503"/>
                  <a:pt x="612623" y="486635"/>
                  <a:pt x="790077" y="872756"/>
                </a:cubicBezTo>
                <a:cubicBezTo>
                  <a:pt x="937425" y="1193596"/>
                  <a:pt x="1088787" y="1533232"/>
                  <a:pt x="1085252" y="1943649"/>
                </a:cubicBezTo>
                <a:cubicBezTo>
                  <a:pt x="1084528" y="2029058"/>
                  <a:pt x="1077341" y="2113833"/>
                  <a:pt x="1064832" y="2198094"/>
                </a:cubicBezTo>
                <a:lnTo>
                  <a:pt x="1043734" y="2315675"/>
                </a:lnTo>
                <a:lnTo>
                  <a:pt x="0" y="231567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90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F29AAD2-96E3-4A6F-9A5E-B6B9E7E11E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3906" y="5720962"/>
            <a:ext cx="4228094" cy="1137038"/>
          </a:xfrm>
          <a:custGeom>
            <a:avLst/>
            <a:gdLst>
              <a:gd name="connsiteX0" fmla="*/ 1673074 w 4228094"/>
              <a:gd name="connsiteY0" fmla="*/ 230 h 1137038"/>
              <a:gd name="connsiteX1" fmla="*/ 3676781 w 4228094"/>
              <a:gd name="connsiteY1" fmla="*/ 298555 h 1137038"/>
              <a:gd name="connsiteX2" fmla="*/ 4025527 w 4228094"/>
              <a:gd name="connsiteY2" fmla="*/ 425010 h 1137038"/>
              <a:gd name="connsiteX3" fmla="*/ 4228094 w 4228094"/>
              <a:gd name="connsiteY3" fmla="*/ 494088 h 1137038"/>
              <a:gd name="connsiteX4" fmla="*/ 4228094 w 4228094"/>
              <a:gd name="connsiteY4" fmla="*/ 1137038 h 1137038"/>
              <a:gd name="connsiteX5" fmla="*/ 0 w 4228094"/>
              <a:gd name="connsiteY5" fmla="*/ 1137038 h 1137038"/>
              <a:gd name="connsiteX6" fmla="*/ 18109 w 4228094"/>
              <a:gd name="connsiteY6" fmla="*/ 1068877 h 1137038"/>
              <a:gd name="connsiteX7" fmla="*/ 362264 w 4228094"/>
              <a:gd name="connsiteY7" fmla="*/ 366637 h 1137038"/>
              <a:gd name="connsiteX8" fmla="*/ 1386499 w 4228094"/>
              <a:gd name="connsiteY8" fmla="*/ 1522 h 1137038"/>
              <a:gd name="connsiteX9" fmla="*/ 1673074 w 4228094"/>
              <a:gd name="connsiteY9" fmla="*/ 230 h 1137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228094" h="1137038">
                <a:moveTo>
                  <a:pt x="1673074" y="230"/>
                </a:moveTo>
                <a:cubicBezTo>
                  <a:pt x="2346512" y="4287"/>
                  <a:pt x="3048424" y="63583"/>
                  <a:pt x="3676781" y="298555"/>
                </a:cubicBezTo>
                <a:cubicBezTo>
                  <a:pt x="3793275" y="342114"/>
                  <a:pt x="3909477" y="384216"/>
                  <a:pt x="4025527" y="425010"/>
                </a:cubicBezTo>
                <a:lnTo>
                  <a:pt x="4228094" y="494088"/>
                </a:lnTo>
                <a:lnTo>
                  <a:pt x="4228094" y="1137038"/>
                </a:lnTo>
                <a:lnTo>
                  <a:pt x="0" y="1137038"/>
                </a:lnTo>
                <a:lnTo>
                  <a:pt x="18109" y="1068877"/>
                </a:lnTo>
                <a:cubicBezTo>
                  <a:pt x="95047" y="799139"/>
                  <a:pt x="194962" y="542008"/>
                  <a:pt x="362264" y="366637"/>
                </a:cubicBezTo>
                <a:cubicBezTo>
                  <a:pt x="622229" y="94062"/>
                  <a:pt x="1015836" y="6565"/>
                  <a:pt x="1386499" y="1522"/>
                </a:cubicBezTo>
                <a:cubicBezTo>
                  <a:pt x="1481245" y="198"/>
                  <a:pt x="1576869" y="-349"/>
                  <a:pt x="1673074" y="23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sz="1500">
              <a:solidFill>
                <a:schemeClr val="bg1"/>
              </a:solidFill>
              <a:latin typeface="Avenir Next LT Pro" panose="020B0504020202020204" pitchFamily="34" charset="0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EC84841-2631-44D2-A01B-6AF0CF7F7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53921" y="5620196"/>
            <a:ext cx="5038078" cy="1237805"/>
          </a:xfrm>
          <a:custGeom>
            <a:avLst/>
            <a:gdLst>
              <a:gd name="connsiteX0" fmla="*/ 1576991 w 5038078"/>
              <a:gd name="connsiteY0" fmla="*/ 210 h 1238015"/>
              <a:gd name="connsiteX1" fmla="*/ 3403320 w 5038078"/>
              <a:gd name="connsiteY1" fmla="*/ 272125 h 1238015"/>
              <a:gd name="connsiteX2" fmla="*/ 4672870 w 5038078"/>
              <a:gd name="connsiteY2" fmla="*/ 693604 h 1238015"/>
              <a:gd name="connsiteX3" fmla="*/ 5038078 w 5038078"/>
              <a:gd name="connsiteY3" fmla="*/ 795929 h 1238015"/>
              <a:gd name="connsiteX4" fmla="*/ 5038078 w 5038078"/>
              <a:gd name="connsiteY4" fmla="*/ 1238015 h 1238015"/>
              <a:gd name="connsiteX5" fmla="*/ 0 w 5038078"/>
              <a:gd name="connsiteY5" fmla="*/ 1238015 h 1238015"/>
              <a:gd name="connsiteX6" fmla="*/ 19230 w 5038078"/>
              <a:gd name="connsiteY6" fmla="*/ 1159819 h 1238015"/>
              <a:gd name="connsiteX7" fmla="*/ 382219 w 5038078"/>
              <a:gd name="connsiteY7" fmla="*/ 334180 h 1238015"/>
              <a:gd name="connsiteX8" fmla="*/ 1315784 w 5038078"/>
              <a:gd name="connsiteY8" fmla="*/ 1388 h 1238015"/>
              <a:gd name="connsiteX9" fmla="*/ 1576991 w 5038078"/>
              <a:gd name="connsiteY9" fmla="*/ 210 h 1238015"/>
              <a:gd name="connsiteX0" fmla="*/ 0 w 5129518"/>
              <a:gd name="connsiteY0" fmla="*/ 1237805 h 1329245"/>
              <a:gd name="connsiteX1" fmla="*/ 19230 w 5129518"/>
              <a:gd name="connsiteY1" fmla="*/ 1159609 h 1329245"/>
              <a:gd name="connsiteX2" fmla="*/ 382219 w 5129518"/>
              <a:gd name="connsiteY2" fmla="*/ 333970 h 1329245"/>
              <a:gd name="connsiteX3" fmla="*/ 1315784 w 5129518"/>
              <a:gd name="connsiteY3" fmla="*/ 1178 h 1329245"/>
              <a:gd name="connsiteX4" fmla="*/ 1576991 w 5129518"/>
              <a:gd name="connsiteY4" fmla="*/ 0 h 1329245"/>
              <a:gd name="connsiteX5" fmla="*/ 3403320 w 5129518"/>
              <a:gd name="connsiteY5" fmla="*/ 271915 h 1329245"/>
              <a:gd name="connsiteX6" fmla="*/ 4672870 w 5129518"/>
              <a:gd name="connsiteY6" fmla="*/ 693394 h 1329245"/>
              <a:gd name="connsiteX7" fmla="*/ 5038078 w 5129518"/>
              <a:gd name="connsiteY7" fmla="*/ 795719 h 1329245"/>
              <a:gd name="connsiteX8" fmla="*/ 5129518 w 5129518"/>
              <a:gd name="connsiteY8" fmla="*/ 1329245 h 1329245"/>
              <a:gd name="connsiteX0" fmla="*/ 0 w 5129518"/>
              <a:gd name="connsiteY0" fmla="*/ 1237805 h 1329245"/>
              <a:gd name="connsiteX1" fmla="*/ 19230 w 5129518"/>
              <a:gd name="connsiteY1" fmla="*/ 1159609 h 1329245"/>
              <a:gd name="connsiteX2" fmla="*/ 382219 w 5129518"/>
              <a:gd name="connsiteY2" fmla="*/ 333970 h 1329245"/>
              <a:gd name="connsiteX3" fmla="*/ 1315784 w 5129518"/>
              <a:gd name="connsiteY3" fmla="*/ 1178 h 1329245"/>
              <a:gd name="connsiteX4" fmla="*/ 1576991 w 5129518"/>
              <a:gd name="connsiteY4" fmla="*/ 0 h 1329245"/>
              <a:gd name="connsiteX5" fmla="*/ 3403320 w 5129518"/>
              <a:gd name="connsiteY5" fmla="*/ 271915 h 1329245"/>
              <a:gd name="connsiteX6" fmla="*/ 4672870 w 5129518"/>
              <a:gd name="connsiteY6" fmla="*/ 693394 h 1329245"/>
              <a:gd name="connsiteX7" fmla="*/ 5038078 w 5129518"/>
              <a:gd name="connsiteY7" fmla="*/ 795719 h 1329245"/>
              <a:gd name="connsiteX8" fmla="*/ 5129518 w 5129518"/>
              <a:gd name="connsiteY8" fmla="*/ 1329245 h 1329245"/>
              <a:gd name="connsiteX0" fmla="*/ 0 w 5049689"/>
              <a:gd name="connsiteY0" fmla="*/ 1237805 h 1423588"/>
              <a:gd name="connsiteX1" fmla="*/ 19230 w 5049689"/>
              <a:gd name="connsiteY1" fmla="*/ 1159609 h 1423588"/>
              <a:gd name="connsiteX2" fmla="*/ 382219 w 5049689"/>
              <a:gd name="connsiteY2" fmla="*/ 333970 h 1423588"/>
              <a:gd name="connsiteX3" fmla="*/ 1315784 w 5049689"/>
              <a:gd name="connsiteY3" fmla="*/ 1178 h 1423588"/>
              <a:gd name="connsiteX4" fmla="*/ 1576991 w 5049689"/>
              <a:gd name="connsiteY4" fmla="*/ 0 h 1423588"/>
              <a:gd name="connsiteX5" fmla="*/ 3403320 w 5049689"/>
              <a:gd name="connsiteY5" fmla="*/ 271915 h 1423588"/>
              <a:gd name="connsiteX6" fmla="*/ 4672870 w 5049689"/>
              <a:gd name="connsiteY6" fmla="*/ 693394 h 1423588"/>
              <a:gd name="connsiteX7" fmla="*/ 5038078 w 5049689"/>
              <a:gd name="connsiteY7" fmla="*/ 795719 h 1423588"/>
              <a:gd name="connsiteX8" fmla="*/ 5049689 w 5049689"/>
              <a:gd name="connsiteY8" fmla="*/ 1423588 h 1423588"/>
              <a:gd name="connsiteX0" fmla="*/ 0 w 5038078"/>
              <a:gd name="connsiteY0" fmla="*/ 1237805 h 1237805"/>
              <a:gd name="connsiteX1" fmla="*/ 19230 w 5038078"/>
              <a:gd name="connsiteY1" fmla="*/ 1159609 h 1237805"/>
              <a:gd name="connsiteX2" fmla="*/ 382219 w 5038078"/>
              <a:gd name="connsiteY2" fmla="*/ 333970 h 1237805"/>
              <a:gd name="connsiteX3" fmla="*/ 1315784 w 5038078"/>
              <a:gd name="connsiteY3" fmla="*/ 1178 h 1237805"/>
              <a:gd name="connsiteX4" fmla="*/ 1576991 w 5038078"/>
              <a:gd name="connsiteY4" fmla="*/ 0 h 1237805"/>
              <a:gd name="connsiteX5" fmla="*/ 3403320 w 5038078"/>
              <a:gd name="connsiteY5" fmla="*/ 271915 h 1237805"/>
              <a:gd name="connsiteX6" fmla="*/ 4672870 w 5038078"/>
              <a:gd name="connsiteY6" fmla="*/ 693394 h 1237805"/>
              <a:gd name="connsiteX7" fmla="*/ 5038078 w 5038078"/>
              <a:gd name="connsiteY7" fmla="*/ 795719 h 1237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38078" h="1237805">
                <a:moveTo>
                  <a:pt x="0" y="1237805"/>
                </a:moveTo>
                <a:lnTo>
                  <a:pt x="19230" y="1159609"/>
                </a:lnTo>
                <a:cubicBezTo>
                  <a:pt x="96961" y="850027"/>
                  <a:pt x="191605" y="533778"/>
                  <a:pt x="382219" y="333970"/>
                </a:cubicBezTo>
                <a:cubicBezTo>
                  <a:pt x="619171" y="85526"/>
                  <a:pt x="977934" y="5774"/>
                  <a:pt x="1315784" y="1178"/>
                </a:cubicBezTo>
                <a:lnTo>
                  <a:pt x="1576991" y="0"/>
                </a:lnTo>
                <a:cubicBezTo>
                  <a:pt x="2190813" y="3698"/>
                  <a:pt x="2830589" y="57744"/>
                  <a:pt x="3403320" y="271915"/>
                </a:cubicBezTo>
                <a:cubicBezTo>
                  <a:pt x="3828046" y="430728"/>
                  <a:pt x="4248519" y="568281"/>
                  <a:pt x="4672870" y="693394"/>
                </a:cubicBezTo>
                <a:lnTo>
                  <a:pt x="5038078" y="795719"/>
                </a:ln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spc="0" normalizeH="0" baseline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 Light"/>
            </a:endParaRPr>
          </a:p>
        </p:txBody>
      </p:sp>
      <p:sp>
        <p:nvSpPr>
          <p:cNvPr id="21" name="Title"/>
          <p:cNvSpPr txBox="1"/>
          <p:nvPr/>
        </p:nvSpPr>
        <p:spPr>
          <a:xfrm>
            <a:off x="155448" y="109728"/>
            <a:ext cx="10972800" cy="64922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600" b="0">
                <a:solidFill>
                  <a:srgbClr val="FFFFFF"/>
                </a:solidFill>
              </a:rPr>
              <a:t>How the ERD Supports Our Features</a:t>
            </a:r>
          </a:p>
        </p:txBody>
      </p:sp>
      <p:sp>
        <p:nvSpPr>
          <p:cNvPr id="22" name="Map 1"/>
          <p:cNvSpPr/>
          <p:nvPr/>
        </p:nvSpPr>
        <p:spPr>
          <a:xfrm>
            <a:off x="822960" y="118872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5840" y="1371600"/>
            <a:ext cx="3063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8FE8A8"/>
                </a:solidFill>
              </a:rPr>
              <a:t>Posts.forum_progress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1965960"/>
            <a:ext cx="30632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Post-to-forum progression</a:t>
            </a:r>
          </a:p>
        </p:txBody>
      </p:sp>
      <p:sp>
        <p:nvSpPr>
          <p:cNvPr id="25" name="Map 2"/>
          <p:cNvSpPr/>
          <p:nvPr/>
        </p:nvSpPr>
        <p:spPr>
          <a:xfrm>
            <a:off x="4526280" y="118872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1371600"/>
            <a:ext cx="3063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8FE8A8"/>
                </a:solidFill>
              </a:rPr>
              <a:t>Posts.is_boosted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1965960"/>
            <a:ext cx="30632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Promoted and personal ads</a:t>
            </a:r>
          </a:p>
        </p:txBody>
      </p:sp>
      <p:sp>
        <p:nvSpPr>
          <p:cNvPr id="28" name="Map 3"/>
          <p:cNvSpPr/>
          <p:nvPr/>
        </p:nvSpPr>
        <p:spPr>
          <a:xfrm>
            <a:off x="8229600" y="118872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12480" y="1371600"/>
            <a:ext cx="3063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8FE8A8"/>
                </a:solidFill>
              </a:rPr>
              <a:t>User.tier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1965960"/>
            <a:ext cx="30632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Free, premium, and business accounts</a:t>
            </a:r>
          </a:p>
        </p:txBody>
      </p:sp>
      <p:sp>
        <p:nvSpPr>
          <p:cNvPr id="31" name="Map 4"/>
          <p:cNvSpPr/>
          <p:nvPr/>
        </p:nvSpPr>
        <p:spPr>
          <a:xfrm>
            <a:off x="822960" y="347472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3657600"/>
            <a:ext cx="3063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8FE8A8"/>
                </a:solidFill>
              </a:rPr>
              <a:t>Preference.kid_mode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" y="4251959"/>
            <a:ext cx="30632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Kids mode</a:t>
            </a:r>
          </a:p>
        </p:txBody>
      </p:sp>
      <p:sp>
        <p:nvSpPr>
          <p:cNvPr id="34" name="Map 5"/>
          <p:cNvSpPr/>
          <p:nvPr/>
        </p:nvSpPr>
        <p:spPr>
          <a:xfrm>
            <a:off x="4526280" y="347472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709160" y="3657600"/>
            <a:ext cx="3063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8FE8A8"/>
                </a:solidFill>
              </a:rPr>
              <a:t>Preference.avatar_frame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09160" y="4251959"/>
            <a:ext cx="30632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Premium profile customization</a:t>
            </a:r>
          </a:p>
        </p:txBody>
      </p:sp>
      <p:sp>
        <p:nvSpPr>
          <p:cNvPr id="37" name="Map 6"/>
          <p:cNvSpPr/>
          <p:nvPr/>
        </p:nvSpPr>
        <p:spPr>
          <a:xfrm>
            <a:off x="8229600" y="3474720"/>
            <a:ext cx="3429000" cy="201168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80" y="3657600"/>
            <a:ext cx="30632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1">
                <a:solidFill>
                  <a:srgbClr val="8FE8A8"/>
                </a:solidFill>
              </a:rPr>
              <a:t>Posts.privacy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80" y="4251959"/>
            <a:ext cx="306324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</a:rPr>
              <a:t>Per-post privacy controls</a:t>
            </a:r>
          </a:p>
        </p:txBody>
      </p:sp>
    </p:spTree>
    <p:extLst>
      <p:ext uri="{BB962C8B-B14F-4D97-AF65-F5344CB8AC3E}">
        <p14:creationId xmlns:p14="http://schemas.microsoft.com/office/powerpoint/2010/main" val="34173343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A924F4-49E8-9999-10C6-F5680BDB3BB3}"/>
              </a:ext>
            </a:extLst>
          </p:cNvPr>
          <p:cNvSpPr txBox="1"/>
          <p:nvPr/>
        </p:nvSpPr>
        <p:spPr>
          <a:xfrm>
            <a:off x="158493" y="106990"/>
            <a:ext cx="112471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dirty="0"/>
              <a:t>What We Expect to Build</a:t>
            </a:r>
          </a:p>
        </p:txBody>
      </p:sp>
      <p:sp>
        <p:nvSpPr>
          <p:cNvPr id="3" name="Build card"/>
          <p:cNvSpPr/>
          <p:nvPr/>
        </p:nvSpPr>
        <p:spPr>
          <a:xfrm>
            <a:off x="822960" y="118872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Metrics card"/>
          <p:cNvSpPr/>
          <p:nvPr/>
        </p:nvSpPr>
        <p:spPr>
          <a:xfrm>
            <a:off x="6217920" y="1188720"/>
            <a:ext cx="5120640" cy="3566160"/>
          </a:xfrm>
          <a:prstGeom prst="roundRect">
            <a:avLst>
              <a:gd name="adj" fmla="val 6000"/>
            </a:avLst>
          </a:prstGeom>
          <a:solidFill>
            <a:srgbClr val="3340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325880"/>
            <a:ext cx="47548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8FE8A8"/>
                </a:solidFill>
              </a:rPr>
              <a:t>By the end of the semester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754880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Accounts, profiles, and a custom dashboard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Post-to-forum progression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Messaging, favorites, and recent activity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Search and an Explore page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Ad and premium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754880" cy="4114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000" b="1">
                <a:solidFill>
                  <a:srgbClr val="8FE8A8"/>
                </a:solidFill>
              </a:rPr>
              <a:t>How we'll know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2560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Posts graduating to forums per week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Average forum lifespan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Engagement and user growth rates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FFFFFF"/>
                </a:solidFill>
              </a:rPr>
              <a:t>User quality surveys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20640"/>
            <a:ext cx="10515600" cy="9144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3550155280"/>
      </p:ext>
    </p:extLst>
  </p:cSld>
  <p:clrMapOvr>
    <a:masterClrMapping/>
  </p:clrMapOvr>
</p:sld>
</file>

<file path=ppt/theme/theme1.xml><?xml version="1.0" encoding="utf-8"?>
<a:theme xmlns:a="http://schemas.openxmlformats.org/drawingml/2006/main" name="PebbleVTI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B140"/>
      </a:accent1>
      <a:accent2>
        <a:srgbClr val="ED7D31"/>
      </a:accent2>
      <a:accent3>
        <a:srgbClr val="00B140"/>
      </a:accent3>
      <a:accent4>
        <a:srgbClr val="FFC000"/>
      </a:accent4>
      <a:accent5>
        <a:srgbClr val="5B9BD5"/>
      </a:accent5>
      <a:accent6>
        <a:srgbClr val="00B140"/>
      </a:accent6>
      <a:hlink>
        <a:srgbClr val="0563C1"/>
      </a:hlink>
      <a:folHlink>
        <a:srgbClr val="954F72"/>
      </a:folHlink>
    </a:clrScheme>
    <a:fontScheme name="Custom 4">
      <a:majorFont>
        <a:latin typeface="Sitka Subheading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ebbleVTI" id="{8B4DB91D-6BB4-4BA3-973A-733D3AF2680E}" vid="{9A19CF0D-2077-4BF4-BAA5-86934C336D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cd55702-18fc-4090-a1ff-f971714b997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95E9A65630F4E4AB26A821F4F764CF1" ma:contentTypeVersion="13" ma:contentTypeDescription="Create a new document." ma:contentTypeScope="" ma:versionID="b4c135c35eeff0b27bcdaf7cb6c2c3ff">
  <xsd:schema xmlns:xsd="http://www.w3.org/2001/XMLSchema" xmlns:xs="http://www.w3.org/2001/XMLSchema" xmlns:p="http://schemas.microsoft.com/office/2006/metadata/properties" xmlns:ns3="1cd55702-18fc-4090-a1ff-f971714b9974" xmlns:ns4="e6386ee0-8391-44a2-98fb-5cbb7366aabd" targetNamespace="http://schemas.microsoft.com/office/2006/metadata/properties" ma:root="true" ma:fieldsID="60f0ac125e505c565d8af4d00f7a91bd" ns3:_="" ns4:_="">
    <xsd:import namespace="1cd55702-18fc-4090-a1ff-f971714b9974"/>
    <xsd:import namespace="e6386ee0-8391-44a2-98fb-5cbb7366aab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d55702-18fc-4090-a1ff-f971714b997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6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6386ee0-8391-44a2-98fb-5cbb7366aab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CCC8ACE-AD32-40C4-94D0-1B4E566FB221}">
  <ds:schemaRefs>
    <ds:schemaRef ds:uri="1cd55702-18fc-4090-a1ff-f971714b9974"/>
    <ds:schemaRef ds:uri="e6386ee0-8391-44a2-98fb-5cbb7366aab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39A2A7CE-6230-43B2-8191-F3FB7158040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A4902D4-C1A5-4BD9-888D-C014ED9690E5}">
  <ds:schemaRefs>
    <ds:schemaRef ds:uri="1cd55702-18fc-4090-a1ff-f971714b9974"/>
    <ds:schemaRef ds:uri="e6386ee0-8391-44a2-98fb-5cbb7366aab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TM16401375[[fn=Madison]]</Template>
  <TotalTime>0</TotalTime>
  <Words>1222</Words>
  <Application>Microsoft Office PowerPoint</Application>
  <PresentationFormat>Widescreen</PresentationFormat>
  <Paragraphs>156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Avenir Next LT Pro</vt:lpstr>
      <vt:lpstr>Avenir Next LT Pro Light</vt:lpstr>
      <vt:lpstr>Sitka Subheading</vt:lpstr>
      <vt:lpstr>PebbleVTI</vt:lpstr>
      <vt:lpstr>Pl   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Snodgrass, Shane</dc:creator>
  <cp:lastModifiedBy>shane snodgrass</cp:lastModifiedBy>
  <cp:revision>95</cp:revision>
  <dcterms:created xsi:type="dcterms:W3CDTF">2026-09-29T01:44:46Z</dcterms:created>
  <dcterms:modified xsi:type="dcterms:W3CDTF">2026-10-12T01:08:04Z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0x010100495E9A65630F4E4AB26A821F4F764CF1</vt:lpwstr>
  </property>
</Properties>
</file>